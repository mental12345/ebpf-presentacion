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docProps/custom.xml" ContentType="application/vnd.openxmlformats-officedocument.custom-properties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9.xml" ContentType="application/vnd.openxmlformats-officedocument.presentationml.slideLayout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viewProps.xml" ContentType="application/vnd.openxmlformats-officedocument.presentationml.viewProps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0"/>
          <a:sy n="0" d="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38494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00379888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52568638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4616510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5758472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81458708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6569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8103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797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3C30EB-147E-4468-D68D-52A65F1389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6528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5980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9132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AAA549-E8F9-BEC2-F709-97ACA7762F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8086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0231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244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F980E7-6312-1288-683B-BD1FF40A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4461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547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470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F9D111-BF22-E5E0-8DD2-105D7272DA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4438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73902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620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AEF257-6C5D-6D8E-F0CE-7DECAD61BF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0674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0047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490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062827-544F-DF5E-7991-7ADBEB8C66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8526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0135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709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A236D5-545E-3256-2EBA-891D74E140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229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7601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0883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EE1EAD-7F4E-ECA7-57E1-A1AF5F26ABC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3006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7137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09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FA003B-B10D-8671-9213-E6707A6FF3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1444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4575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5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E8CC45-DEB1-4EB3-0076-D61193F460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7373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4417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5625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79B4FD-7F1D-0072-A32A-A7A6A6CFD7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101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4485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3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80E132-F042-B423-9B61-0176A8E254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9648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32217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627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3B8EB4-2768-734F-29F2-79E18D5151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0887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7481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68827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B761BF-7D86-B67B-DEE2-E767B77E015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9236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93402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51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4A4708-23DB-7AF8-A809-6F54BC0747F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768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0999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4028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9E86FF-92A4-D53D-C104-3F4EF6E0E6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Imagen / Texto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070382" name="PlaceHolder 1"/>
          <p:cNvSpPr>
            <a:spLocks noGrp="1"/>
          </p:cNvSpPr>
          <p:nvPr>
            <p:ph type="body"/>
          </p:nvPr>
        </p:nvSpPr>
        <p:spPr bwMode="auto">
          <a:xfrm>
            <a:off x="6272640" y="647640"/>
            <a:ext cx="5214960" cy="556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32644600" name="PlaceHolder 2"/>
          <p:cNvSpPr>
            <a:spLocks noGrp="1"/>
          </p:cNvSpPr>
          <p:nvPr>
            <p:ph type="body"/>
          </p:nvPr>
        </p:nvSpPr>
        <p:spPr bwMode="auto">
          <a:xfrm>
            <a:off x="703080" y="647640"/>
            <a:ext cx="5214960" cy="556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ítulo / Contenido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416178" name="PlaceHolder 1"/>
          <p:cNvSpPr>
            <a:spLocks noGrp="1"/>
          </p:cNvSpPr>
          <p:nvPr>
            <p:ph type="title"/>
          </p:nvPr>
        </p:nvSpPr>
        <p:spPr bwMode="auto">
          <a:xfrm>
            <a:off x="695160" y="520200"/>
            <a:ext cx="10800360" cy="74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32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62771746" name="PlaceHolder 2"/>
          <p:cNvSpPr>
            <a:spLocks noGrp="1"/>
          </p:cNvSpPr>
          <p:nvPr>
            <p:ph type="body"/>
          </p:nvPr>
        </p:nvSpPr>
        <p:spPr bwMode="auto">
          <a:xfrm>
            <a:off x="695160" y="1471680"/>
            <a:ext cx="10800360" cy="4865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resentació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911732" name="PlaceHolder 1"/>
          <p:cNvSpPr>
            <a:spLocks noGrp="1"/>
          </p:cNvSpPr>
          <p:nvPr>
            <p:ph type="title"/>
          </p:nvPr>
        </p:nvSpPr>
        <p:spPr bwMode="auto">
          <a:xfrm>
            <a:off x="1068480" y="1120320"/>
            <a:ext cx="50263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40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4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ítulo / Subtítulo / Contenido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034292" name="PlaceHolder 1"/>
          <p:cNvSpPr>
            <a:spLocks noGrp="1"/>
          </p:cNvSpPr>
          <p:nvPr>
            <p:ph type="title"/>
          </p:nvPr>
        </p:nvSpPr>
        <p:spPr bwMode="auto">
          <a:xfrm>
            <a:off x="695160" y="520200"/>
            <a:ext cx="10800360" cy="74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32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58215897" name="PlaceHolder 2"/>
          <p:cNvSpPr>
            <a:spLocks noGrp="1"/>
          </p:cNvSpPr>
          <p:nvPr>
            <p:ph type="body"/>
          </p:nvPr>
        </p:nvSpPr>
        <p:spPr bwMode="auto">
          <a:xfrm>
            <a:off x="695160" y="2015280"/>
            <a:ext cx="10800360" cy="432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02340541" name="PlaceHolder 3"/>
          <p:cNvSpPr>
            <a:spLocks noGrp="1"/>
          </p:cNvSpPr>
          <p:nvPr>
            <p:ph type="body"/>
          </p:nvPr>
        </p:nvSpPr>
        <p:spPr bwMode="auto">
          <a:xfrm>
            <a:off x="695160" y="1267920"/>
            <a:ext cx="10800360" cy="4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ativa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381166" name="PlaceHolder 1"/>
          <p:cNvSpPr>
            <a:spLocks noGrp="1"/>
          </p:cNvSpPr>
          <p:nvPr>
            <p:ph type="body"/>
          </p:nvPr>
        </p:nvSpPr>
        <p:spPr bwMode="auto">
          <a:xfrm>
            <a:off x="380160" y="414000"/>
            <a:ext cx="5537880" cy="602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00214670" name="PlaceHolder 2"/>
          <p:cNvSpPr>
            <a:spLocks noGrp="1"/>
          </p:cNvSpPr>
          <p:nvPr>
            <p:ph type="body"/>
          </p:nvPr>
        </p:nvSpPr>
        <p:spPr bwMode="auto">
          <a:xfrm>
            <a:off x="6273000" y="414000"/>
            <a:ext cx="5537880" cy="602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ódigo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472286" name="PlaceHolder 1"/>
          <p:cNvSpPr>
            <a:spLocks noGrp="1"/>
          </p:cNvSpPr>
          <p:nvPr>
            <p:ph type="body"/>
          </p:nvPr>
        </p:nvSpPr>
        <p:spPr bwMode="auto">
          <a:xfrm>
            <a:off x="421200" y="414000"/>
            <a:ext cx="11348280" cy="602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ítulo / Contenido / Image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443247" name="PlaceHolder 1"/>
          <p:cNvSpPr>
            <a:spLocks noGrp="1"/>
          </p:cNvSpPr>
          <p:nvPr>
            <p:ph type="title"/>
          </p:nvPr>
        </p:nvSpPr>
        <p:spPr bwMode="auto">
          <a:xfrm>
            <a:off x="760320" y="761040"/>
            <a:ext cx="5537880" cy="8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32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76132084" name="PlaceHolder 2"/>
          <p:cNvSpPr>
            <a:spLocks noGrp="1"/>
          </p:cNvSpPr>
          <p:nvPr>
            <p:ph type="body"/>
          </p:nvPr>
        </p:nvSpPr>
        <p:spPr bwMode="auto">
          <a:xfrm>
            <a:off x="760320" y="2109600"/>
            <a:ext cx="5537880" cy="39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6 Puntos Rápidos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676655" name="Google Shape;34;p13"/>
          <p:cNvSpPr/>
          <p:nvPr/>
        </p:nvSpPr>
        <p:spPr bwMode="auto">
          <a:xfrm>
            <a:off x="3583800" y="9687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1"/>
                </a:solidFill>
                <a:latin typeface="KoHo SemiBold"/>
                <a:ea typeface="KoHo SemiBold"/>
              </a:rPr>
              <a:t>01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592931" name="Google Shape;35;p13"/>
          <p:cNvSpPr/>
          <p:nvPr/>
        </p:nvSpPr>
        <p:spPr bwMode="auto">
          <a:xfrm>
            <a:off x="6285240" y="9687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1"/>
                </a:solidFill>
                <a:latin typeface="KoHo SemiBold"/>
                <a:ea typeface="KoHo SemiBold"/>
              </a:rPr>
              <a:t>02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5613390" name="Google Shape;36;p13"/>
          <p:cNvSpPr/>
          <p:nvPr/>
        </p:nvSpPr>
        <p:spPr bwMode="auto">
          <a:xfrm>
            <a:off x="8996760" y="9687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1"/>
                </a:solidFill>
                <a:latin typeface="KoHo SemiBold"/>
                <a:ea typeface="KoHo SemiBold"/>
              </a:rPr>
              <a:t>03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725454" name="Google Shape;37;p13"/>
          <p:cNvSpPr/>
          <p:nvPr/>
        </p:nvSpPr>
        <p:spPr bwMode="auto">
          <a:xfrm>
            <a:off x="3583800" y="40125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1"/>
                </a:solidFill>
                <a:latin typeface="KoHo SemiBold"/>
                <a:ea typeface="KoHo SemiBold"/>
              </a:rPr>
              <a:t>04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849188" name="Google Shape;38;p13"/>
          <p:cNvSpPr/>
          <p:nvPr/>
        </p:nvSpPr>
        <p:spPr bwMode="auto">
          <a:xfrm>
            <a:off x="6285240" y="40125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1"/>
                </a:solidFill>
                <a:latin typeface="KoHo SemiBold"/>
                <a:ea typeface="KoHo SemiBold"/>
              </a:rPr>
              <a:t>05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335920" name="Google Shape;39;p13"/>
          <p:cNvSpPr/>
          <p:nvPr/>
        </p:nvSpPr>
        <p:spPr bwMode="auto">
          <a:xfrm>
            <a:off x="8996760" y="40125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1"/>
                </a:solidFill>
                <a:latin typeface="KoHo SemiBold"/>
                <a:ea typeface="KoHo SemiBold"/>
              </a:rPr>
              <a:t>06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3624680" name="PlaceHolder 1"/>
          <p:cNvSpPr>
            <a:spLocks noGrp="1"/>
          </p:cNvSpPr>
          <p:nvPr>
            <p:ph type="title"/>
          </p:nvPr>
        </p:nvSpPr>
        <p:spPr bwMode="auto">
          <a:xfrm>
            <a:off x="548280" y="1000440"/>
            <a:ext cx="2437200" cy="500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32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01829260" name="PlaceHolder 2"/>
          <p:cNvSpPr>
            <a:spLocks noGrp="1"/>
          </p:cNvSpPr>
          <p:nvPr>
            <p:ph type="body"/>
          </p:nvPr>
        </p:nvSpPr>
        <p:spPr bwMode="auto">
          <a:xfrm>
            <a:off x="3583800" y="166284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71650171" name="PlaceHolder 3"/>
          <p:cNvSpPr>
            <a:spLocks noGrp="1"/>
          </p:cNvSpPr>
          <p:nvPr>
            <p:ph type="body"/>
          </p:nvPr>
        </p:nvSpPr>
        <p:spPr bwMode="auto">
          <a:xfrm>
            <a:off x="6285240" y="166284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19693060" name="PlaceHolder 4"/>
          <p:cNvSpPr>
            <a:spLocks noGrp="1"/>
          </p:cNvSpPr>
          <p:nvPr>
            <p:ph type="body"/>
          </p:nvPr>
        </p:nvSpPr>
        <p:spPr bwMode="auto">
          <a:xfrm>
            <a:off x="8996760" y="166284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15205880" name="PlaceHolder 5"/>
          <p:cNvSpPr>
            <a:spLocks noGrp="1"/>
          </p:cNvSpPr>
          <p:nvPr>
            <p:ph type="body"/>
          </p:nvPr>
        </p:nvSpPr>
        <p:spPr bwMode="auto">
          <a:xfrm>
            <a:off x="3583800" y="471456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25320766" name="PlaceHolder 6"/>
          <p:cNvSpPr>
            <a:spLocks noGrp="1"/>
          </p:cNvSpPr>
          <p:nvPr>
            <p:ph type="body"/>
          </p:nvPr>
        </p:nvSpPr>
        <p:spPr bwMode="auto">
          <a:xfrm>
            <a:off x="6285240" y="471456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51156637" name="PlaceHolder 7"/>
          <p:cNvSpPr>
            <a:spLocks noGrp="1"/>
          </p:cNvSpPr>
          <p:nvPr>
            <p:ph type="body"/>
          </p:nvPr>
        </p:nvSpPr>
        <p:spPr bwMode="auto">
          <a:xfrm>
            <a:off x="8996760" y="471456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2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2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4 Puntos Importantes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78061" name="Google Shape;48;p14"/>
          <p:cNvSpPr/>
          <p:nvPr/>
        </p:nvSpPr>
        <p:spPr bwMode="auto">
          <a:xfrm>
            <a:off x="5862600" y="5079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2"/>
                </a:solidFill>
                <a:latin typeface="KoHo SemiBold"/>
                <a:ea typeface="KoHo SemiBold"/>
              </a:rPr>
              <a:t>01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074777" name="Google Shape;49;p14"/>
          <p:cNvSpPr/>
          <p:nvPr/>
        </p:nvSpPr>
        <p:spPr bwMode="auto">
          <a:xfrm>
            <a:off x="8905320" y="5079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2"/>
                </a:solidFill>
                <a:latin typeface="KoHo SemiBold"/>
                <a:ea typeface="KoHo SemiBold"/>
              </a:rPr>
              <a:t>02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932064" name="Google Shape;50;p14"/>
          <p:cNvSpPr/>
          <p:nvPr/>
        </p:nvSpPr>
        <p:spPr bwMode="auto">
          <a:xfrm>
            <a:off x="5862600" y="35481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2"/>
                </a:solidFill>
                <a:latin typeface="KoHo SemiBold"/>
                <a:ea typeface="KoHo SemiBold"/>
              </a:rPr>
              <a:t>03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467713" name="Google Shape;51;p14"/>
          <p:cNvSpPr/>
          <p:nvPr/>
        </p:nvSpPr>
        <p:spPr bwMode="auto">
          <a:xfrm>
            <a:off x="8905320" y="35481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s-ES" sz="1800" b="1" u="none" strike="noStrike">
                <a:solidFill>
                  <a:schemeClr val="lt2"/>
                </a:solidFill>
                <a:latin typeface="KoHo SemiBold"/>
                <a:ea typeface="KoHo SemiBold"/>
              </a:rPr>
              <a:t>04</a:t>
            </a:r>
            <a:endParaRPr lang="es-MX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3155251" name="PlaceHolder 1"/>
          <p:cNvSpPr>
            <a:spLocks noGrp="1"/>
          </p:cNvSpPr>
          <p:nvPr>
            <p:ph type="title"/>
          </p:nvPr>
        </p:nvSpPr>
        <p:spPr bwMode="auto">
          <a:xfrm>
            <a:off x="380160" y="507960"/>
            <a:ext cx="5001120" cy="49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28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2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26028393" name="PlaceHolder 2"/>
          <p:cNvSpPr>
            <a:spLocks noGrp="1"/>
          </p:cNvSpPr>
          <p:nvPr>
            <p:ph type="body"/>
          </p:nvPr>
        </p:nvSpPr>
        <p:spPr bwMode="auto">
          <a:xfrm>
            <a:off x="5862600" y="109296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135593310" name="PlaceHolder 3"/>
          <p:cNvSpPr>
            <a:spLocks noGrp="1"/>
          </p:cNvSpPr>
          <p:nvPr>
            <p:ph type="body"/>
          </p:nvPr>
        </p:nvSpPr>
        <p:spPr bwMode="auto">
          <a:xfrm>
            <a:off x="8905320" y="109296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50755743" name="PlaceHolder 4"/>
          <p:cNvSpPr>
            <a:spLocks noGrp="1"/>
          </p:cNvSpPr>
          <p:nvPr>
            <p:ph type="body"/>
          </p:nvPr>
        </p:nvSpPr>
        <p:spPr bwMode="auto">
          <a:xfrm>
            <a:off x="5862600" y="411048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7572316" name="PlaceHolder 5"/>
          <p:cNvSpPr>
            <a:spLocks noGrp="1"/>
          </p:cNvSpPr>
          <p:nvPr>
            <p:ph type="body"/>
          </p:nvPr>
        </p:nvSpPr>
        <p:spPr bwMode="auto">
          <a:xfrm>
            <a:off x="8905320" y="411048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22295607" name="PlaceHolder 6"/>
          <p:cNvSpPr>
            <a:spLocks noGrp="1"/>
          </p:cNvSpPr>
          <p:nvPr>
            <p:ph type="body"/>
          </p:nvPr>
        </p:nvSpPr>
        <p:spPr bwMode="auto">
          <a:xfrm>
            <a:off x="380160" y="1354320"/>
            <a:ext cx="5001120" cy="49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ita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224736" name="PlaceHolder 1"/>
          <p:cNvSpPr>
            <a:spLocks noGrp="1"/>
          </p:cNvSpPr>
          <p:nvPr>
            <p:ph type="title"/>
          </p:nvPr>
        </p:nvSpPr>
        <p:spPr bwMode="auto">
          <a:xfrm>
            <a:off x="1899360" y="1018440"/>
            <a:ext cx="8392320" cy="317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54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5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00764748" name="PlaceHolder 2"/>
          <p:cNvSpPr>
            <a:spLocks noGrp="1"/>
          </p:cNvSpPr>
          <p:nvPr>
            <p:ph type="body"/>
          </p:nvPr>
        </p:nvSpPr>
        <p:spPr bwMode="auto">
          <a:xfrm>
            <a:off x="1899360" y="4625280"/>
            <a:ext cx="8392320" cy="30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8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30794425" name="PlaceHolder 3"/>
          <p:cNvSpPr>
            <a:spLocks noGrp="1"/>
          </p:cNvSpPr>
          <p:nvPr>
            <p:ph type="body"/>
          </p:nvPr>
        </p:nvSpPr>
        <p:spPr bwMode="auto">
          <a:xfrm>
            <a:off x="1899360" y="5106600"/>
            <a:ext cx="8392320" cy="30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Gracias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9947966" name="Google Shape;63;p16" descr=""/>
          <p:cNvPicPr/>
          <p:nvPr/>
        </p:nvPicPr>
        <p:blipFill rotWithShape="1">
          <a:blip r:embed="rId3"/>
          <a:srcRect l="14851" t="14597" r="15006" b="14691"/>
          <a:stretch/>
        </p:blipFill>
        <p:spPr bwMode="auto">
          <a:xfrm>
            <a:off x="803160" y="3380400"/>
            <a:ext cx="19548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6977309" name="Google Shape;64;p16" descr=""/>
          <p:cNvPicPr/>
          <p:nvPr/>
        </p:nvPicPr>
        <p:blipFill rotWithShape="1">
          <a:blip r:embed="rId4"/>
          <a:stretch/>
        </p:blipFill>
        <p:spPr bwMode="auto">
          <a:xfrm>
            <a:off x="801360" y="380700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0935983" name="Google Shape;65;p16" descr=""/>
          <p:cNvPicPr/>
          <p:nvPr/>
        </p:nvPicPr>
        <p:blipFill rotWithShape="1">
          <a:blip r:embed="rId5"/>
          <a:stretch/>
        </p:blipFill>
        <p:spPr bwMode="auto">
          <a:xfrm>
            <a:off x="765360" y="427536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7607556" name="PlaceHolder 1"/>
          <p:cNvSpPr>
            <a:spLocks noGrp="1"/>
          </p:cNvSpPr>
          <p:nvPr>
            <p:ph type="body"/>
          </p:nvPr>
        </p:nvSpPr>
        <p:spPr bwMode="auto">
          <a:xfrm>
            <a:off x="760320" y="2538360"/>
            <a:ext cx="4678560" cy="36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65774651" name="PlaceHolder 2"/>
          <p:cNvSpPr>
            <a:spLocks noGrp="1"/>
          </p:cNvSpPr>
          <p:nvPr>
            <p:ph type="body"/>
          </p:nvPr>
        </p:nvSpPr>
        <p:spPr bwMode="auto">
          <a:xfrm>
            <a:off x="1194480" y="3292560"/>
            <a:ext cx="4244760" cy="36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3669868" name="PlaceHolder 3"/>
          <p:cNvSpPr>
            <a:spLocks noGrp="1"/>
          </p:cNvSpPr>
          <p:nvPr>
            <p:ph type="body"/>
          </p:nvPr>
        </p:nvSpPr>
        <p:spPr bwMode="auto">
          <a:xfrm>
            <a:off x="1194480" y="3764160"/>
            <a:ext cx="4244760" cy="36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7470844" name="PlaceHolder 4"/>
          <p:cNvSpPr>
            <a:spLocks noGrp="1"/>
          </p:cNvSpPr>
          <p:nvPr>
            <p:ph type="body"/>
          </p:nvPr>
        </p:nvSpPr>
        <p:spPr bwMode="auto">
          <a:xfrm>
            <a:off x="1194480" y="4223880"/>
            <a:ext cx="4244760" cy="36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6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66551451" name="PlaceHolder 5"/>
          <p:cNvSpPr>
            <a:spLocks noGrp="1"/>
          </p:cNvSpPr>
          <p:nvPr>
            <p:ph type="title"/>
          </p:nvPr>
        </p:nvSpPr>
        <p:spPr bwMode="auto">
          <a:xfrm>
            <a:off x="760320" y="576000"/>
            <a:ext cx="4678560" cy="169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70000" lnSpcReduction="19999"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60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6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acia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35607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120559363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s-MX" sz="1400" b="0" u="none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lang="es-MX" sz="14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000" b="0" u="none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lang="es-MX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0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392793" name="Rectángulo 48"/>
          <p:cNvSpPr/>
          <p:nvPr/>
        </p:nvSpPr>
        <p:spPr bwMode="auto">
          <a:xfrm>
            <a:off x="1440000" y="1980000"/>
            <a:ext cx="8999280" cy="187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4000" b="0" u="none" strike="noStrike">
                <a:solidFill>
                  <a:srgbClr val="FFFFFF"/>
                </a:solidFill>
                <a:latin typeface="KoHo Medium"/>
              </a:rPr>
              <a:t>eBPF y Python: Observabilidad en Linux desde Python</a:t>
            </a:r>
            <a:endParaRPr lang="es-MX" sz="40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es-MX" sz="2000" b="0" u="none" strike="noStrike">
                <a:solidFill>
                  <a:srgbClr val="FFFFFF"/>
                </a:solidFill>
                <a:latin typeface="KoHo Medium"/>
              </a:rPr>
              <a:t>Ramón Esparza </a:t>
            </a:r>
            <a:endParaRPr lang="es-MX" sz="20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es-MX" sz="1600" b="0" u="none" strike="noStrike">
                <a:solidFill>
                  <a:srgbClr val="FFFFFF"/>
                </a:solidFill>
                <a:latin typeface="KoHo Medium"/>
              </a:rPr>
              <a:t>Staff SRE @ Wizeline</a:t>
            </a:r>
            <a:endParaRPr lang="es-MX" sz="16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1827509" name="Imagen 49" descr=""/>
          <p:cNvPicPr/>
          <p:nvPr/>
        </p:nvPicPr>
        <p:blipFill rotWithShape="1">
          <a:blip r:embed="rId3"/>
          <a:stretch/>
        </p:blipFill>
        <p:spPr bwMode="auto">
          <a:xfrm>
            <a:off x="601200" y="1620000"/>
            <a:ext cx="2638080" cy="37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8777888" name="Rectángulo 50"/>
          <p:cNvSpPr/>
          <p:nvPr/>
        </p:nvSpPr>
        <p:spPr bwMode="auto">
          <a:xfrm>
            <a:off x="3960000" y="2196360"/>
            <a:ext cx="485928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2800" b="1" u="none" strike="noStrike">
                <a:solidFill>
                  <a:srgbClr val="FFFFFF"/>
                </a:solidFill>
                <a:latin typeface="Century Gothic"/>
              </a:rPr>
              <a:t>Ramón Esparza</a:t>
            </a:r>
            <a:endParaRPr lang="es-MX" sz="2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es-MX" sz="2800" b="0" u="none" strike="noStrike">
                <a:solidFill>
                  <a:srgbClr val="FFFFFF"/>
                </a:solidFill>
                <a:latin typeface="Century Gothic"/>
              </a:rPr>
              <a:t>Staff SRE/DevOps</a:t>
            </a:r>
            <a:endParaRPr lang="es-MX" sz="2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es-MX" sz="2800" b="0" u="none" strike="noStrike">
                <a:solidFill>
                  <a:srgbClr val="FFFFFF"/>
                </a:solidFill>
                <a:latin typeface="Century Gothic"/>
              </a:rPr>
              <a:t>@ Wizeline</a:t>
            </a:r>
            <a:endParaRPr lang="es-MX" sz="28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100" b="0" u="none" strike="noStrike">
                <a:solidFill>
                  <a:srgbClr val="FFFFFF"/>
                </a:solidFill>
                <a:latin typeface="Century Gothic"/>
              </a:rPr>
              <a:t>blog.ramonesparza.net</a:t>
            </a: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100" b="0" u="none" strike="noStrike">
                <a:solidFill>
                  <a:srgbClr val="FFFFFF"/>
                </a:solidFill>
                <a:latin typeface="Century Gothic"/>
              </a:rPr>
              <a:t>linkedin.com/in/ramonesparza</a:t>
            </a: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215826" name="Rectángulo 51"/>
          <p:cNvSpPr/>
          <p:nvPr/>
        </p:nvSpPr>
        <p:spPr bwMode="auto">
          <a:xfrm>
            <a:off x="1044000" y="900000"/>
            <a:ext cx="8861399" cy="59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Century Gothic"/>
              </a:rPr>
              <a:t>Índice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2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3200" b="0" u="none" strike="noStrike">
                <a:solidFill>
                  <a:srgbClr val="FFFFFF"/>
                </a:solidFill>
                <a:latin typeface="Century Gothic"/>
              </a:rPr>
              <a:t>Problema</a:t>
            </a: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3200" b="0" u="none" strike="noStrike">
                <a:solidFill>
                  <a:srgbClr val="FFFFFF"/>
                </a:solidFill>
                <a:latin typeface="Century Gothic"/>
              </a:rPr>
              <a:t>¿Cómo lo solucionamos? ¿Qué es eBPF?</a:t>
            </a: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3200" b="0" u="none" strike="noStrike">
                <a:solidFill>
                  <a:srgbClr val="FFFFFF"/>
                </a:solidFill>
                <a:latin typeface="Century Gothic"/>
              </a:rPr>
              <a:t>¿Cómo funciona eBPF? </a:t>
            </a: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3200" b="0" u="none" strike="noStrike">
                <a:solidFill>
                  <a:srgbClr val="FFFFFF"/>
                </a:solidFill>
                <a:latin typeface="Century Gothic"/>
              </a:rPr>
              <a:t>Demo</a:t>
            </a:r>
            <a:endParaRPr lang="es-MX" sz="3200" b="0" u="none" strike="noStrike">
              <a:solidFill>
                <a:srgbClr val="FFFFFF"/>
              </a:solidFill>
              <a:latin typeface="Century Gothic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ES" sz="3200" b="0" u="none" strike="noStrike">
                <a:solidFill>
                  <a:srgbClr val="FFFFFF"/>
                </a:solidFill>
                <a:latin typeface="Century Gothic"/>
              </a:rPr>
              <a:t>Donde usarlo</a:t>
            </a: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3200" b="0" u="none" strike="noStrike">
                <a:solidFill>
                  <a:srgbClr val="FFFFFF"/>
                </a:solidFill>
                <a:latin typeface="Century Gothic"/>
              </a:rPr>
              <a:t>Puntos clave</a:t>
            </a: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376620" name="Rectángulo 52"/>
          <p:cNvSpPr/>
          <p:nvPr/>
        </p:nvSpPr>
        <p:spPr bwMode="auto">
          <a:xfrm>
            <a:off x="1080000" y="720000"/>
            <a:ext cx="8999640" cy="538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es-MX" sz="2800" b="1" u="none" strike="noStrike">
                <a:solidFill>
                  <a:srgbClr val="FFFFFF"/>
                </a:solidFill>
                <a:latin typeface="Century Gothic"/>
              </a:rPr>
              <a:t>El kernel lo ve todo:</a:t>
            </a:r>
            <a:endParaRPr lang="es-MX" sz="28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Red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Disco 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Procesos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SysCalls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es-MX" sz="2800" b="1" u="none" strike="noStrike">
                <a:solidFill>
                  <a:srgbClr val="FFFFFF"/>
                </a:solidFill>
                <a:latin typeface="Century Gothic"/>
              </a:rPr>
              <a:t>Observar qué está haciendo el kernel significa: </a:t>
            </a:r>
            <a:endParaRPr lang="es-MX" sz="28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Usar herramientas que funcionan en user space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Escribir un modulo de Kernel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Hacer un parche y recompilar el Kernel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436093" name="Rectángulo 53"/>
          <p:cNvSpPr/>
          <p:nvPr/>
        </p:nvSpPr>
        <p:spPr bwMode="auto">
          <a:xfrm>
            <a:off x="1080000" y="720000"/>
            <a:ext cx="6299280" cy="29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¿Qué queremos?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2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08351882" name="Imagen 54" descr=""/>
          <p:cNvPicPr/>
          <p:nvPr/>
        </p:nvPicPr>
        <p:blipFill rotWithShape="1">
          <a:blip r:embed="rId3"/>
          <a:srcRect l="0" t="0" r="4" b="16941"/>
          <a:stretch/>
        </p:blipFill>
        <p:spPr bwMode="auto">
          <a:xfrm>
            <a:off x="1980360" y="1980000"/>
            <a:ext cx="7019280" cy="4319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365343" name="Rectángulo 55"/>
          <p:cNvSpPr/>
          <p:nvPr/>
        </p:nvSpPr>
        <p:spPr bwMode="auto">
          <a:xfrm>
            <a:off x="1080000" y="720000"/>
            <a:ext cx="6299280" cy="71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¿Qué es eBPF?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r>
              <a:rPr lang="es-MX" sz="2100" b="0" u="none" strike="noStrike">
                <a:solidFill>
                  <a:srgbClr val="FFFFFF"/>
                </a:solidFill>
                <a:latin typeface="Century Gothic"/>
              </a:rPr>
              <a:t>¡eBPF es una tecnología asombrosa! Nos permite interactuar con el Kernel de Linux desde el </a:t>
            </a:r>
            <a:r>
              <a:rPr lang="es-MX" sz="2100" b="0" u="sng" strike="noStrike">
                <a:solidFill>
                  <a:srgbClr val="FFFFFF"/>
                </a:solidFill>
                <a:latin typeface="Century Gothic"/>
              </a:rPr>
              <a:t>user</a:t>
            </a:r>
            <a:r>
              <a:rPr lang="es-MX" sz="2100" b="0" u="none" strike="noStrike">
                <a:solidFill>
                  <a:srgbClr val="FFFFFF"/>
                </a:solidFill>
                <a:latin typeface="Century Gothic"/>
              </a:rPr>
              <a:t> space.</a:t>
            </a: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r>
              <a:rPr lang="es-MX" sz="2100" b="0" u="none" strike="noStrike">
                <a:solidFill>
                  <a:srgbClr val="FFFFFF"/>
                </a:solidFill>
                <a:latin typeface="Century Gothic"/>
              </a:rPr>
              <a:t>¿Cómo lo hace? Ejecuta programas pequeños </a:t>
            </a:r>
            <a:r>
              <a:rPr lang="es-MX" sz="2100" b="1" u="none" strike="noStrike">
                <a:solidFill>
                  <a:srgbClr val="FFFFFF"/>
                </a:solidFill>
                <a:latin typeface="Century Gothic"/>
              </a:rPr>
              <a:t>dentro del kernel</a:t>
            </a: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09320064" name="Grupo 56"/>
          <p:cNvGrpSpPr/>
          <p:nvPr/>
        </p:nvGrpSpPr>
        <p:grpSpPr bwMode="auto">
          <a:xfrm>
            <a:off x="4500360" y="2967120"/>
            <a:ext cx="3958920" cy="2072160"/>
            <a:chOff x="4500360" y="2967120"/>
            <a:chExt cx="3958920" cy="2072160"/>
          </a:xfrm>
        </p:grpSpPr>
        <p:pic>
          <p:nvPicPr>
            <p:cNvPr id="58" name="Imagen 57" descr=""/>
            <p:cNvPicPr/>
            <p:nvPr/>
          </p:nvPicPr>
          <p:blipFill rotWithShape="1">
            <a:blip r:embed="rId3"/>
            <a:stretch/>
          </p:blipFill>
          <p:spPr bwMode="auto">
            <a:xfrm>
              <a:off x="5488200" y="3143519"/>
              <a:ext cx="2971080" cy="1782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" name="Imagen 58" descr=""/>
            <p:cNvPicPr/>
            <p:nvPr/>
          </p:nvPicPr>
          <p:blipFill rotWithShape="1">
            <a:blip r:embed="rId4"/>
            <a:stretch/>
          </p:blipFill>
          <p:spPr bwMode="auto">
            <a:xfrm>
              <a:off x="4500360" y="2967120"/>
              <a:ext cx="1761840" cy="20721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8841336" name="Rectángulo 59"/>
          <p:cNvSpPr/>
          <p:nvPr/>
        </p:nvSpPr>
        <p:spPr bwMode="auto">
          <a:xfrm>
            <a:off x="1080000" y="720000"/>
            <a:ext cx="6299280" cy="32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¿Cómo funciona eBPF?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35862362" name="Imagen 60" descr=""/>
          <p:cNvPicPr/>
          <p:nvPr/>
        </p:nvPicPr>
        <p:blipFill rotWithShape="1">
          <a:blip r:embed="rId3"/>
          <a:stretch/>
        </p:blipFill>
        <p:spPr bwMode="auto">
          <a:xfrm>
            <a:off x="720000" y="1080000"/>
            <a:ext cx="8999640" cy="5883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672245" name="Rectángulo 61"/>
          <p:cNvSpPr/>
          <p:nvPr/>
        </p:nvSpPr>
        <p:spPr bwMode="auto">
          <a:xfrm>
            <a:off x="1080000" y="720000"/>
            <a:ext cx="10439640" cy="28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¿Cómo funciona eBPF?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  <a:defRPr/>
            </a:pPr>
            <a:r>
              <a:rPr lang="es-MX" sz="2400" b="1" u="none" strike="noStrike">
                <a:solidFill>
                  <a:srgbClr val="FFFFFF"/>
                </a:solidFill>
                <a:latin typeface="Century Gothic"/>
              </a:rPr>
              <a:t>eBPF Verifier: ¿Es seguro nuestro programa?</a:t>
            </a: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 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543639" name="Forma libre: forma 62"/>
          <p:cNvSpPr/>
          <p:nvPr/>
        </p:nvSpPr>
        <p:spPr bwMode="auto">
          <a:xfrm>
            <a:off x="36000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Cada programa es analizado antes de ejecución.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990879" name="Forma libre: forma 63"/>
          <p:cNvSpPr/>
          <p:nvPr/>
        </p:nvSpPr>
        <p:spPr bwMode="auto">
          <a:xfrm>
            <a:off x="718812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  <a:ea typeface="Century Gothic"/>
              </a:rPr>
              <a:t>Protege el kernel: Un programa de eBPF no puede comprometer el kernel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728232" name="Forma libre: forma 64"/>
          <p:cNvSpPr/>
          <p:nvPr/>
        </p:nvSpPr>
        <p:spPr bwMode="auto"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Evita procedimientos peligrosos: </a:t>
            </a:r>
            <a:br>
              <a:rPr sz="2600"/>
            </a:b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ciclos infinitos o accesos inválidos en memoria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602841" name="Rectángulo 65"/>
          <p:cNvSpPr/>
          <p:nvPr/>
        </p:nvSpPr>
        <p:spPr bwMode="auto">
          <a:xfrm>
            <a:off x="1080000" y="720000"/>
            <a:ext cx="1043964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¿Cómo funciona eBPF?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  <a:defRPr/>
            </a:pPr>
            <a:r>
              <a:rPr lang="es-MX" sz="2600" b="1" u="none" strike="noStrike">
                <a:solidFill>
                  <a:srgbClr val="FFFFFF"/>
                </a:solidFill>
                <a:latin typeface="Century Gothic"/>
              </a:rPr>
              <a:t>eBPF JIT Compiler: ¿Cómo se ejecuta nuestro programa?</a:t>
            </a: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  </a:t>
            </a: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613705" name="Forma libre: forma 66"/>
          <p:cNvSpPr/>
          <p:nvPr/>
        </p:nvSpPr>
        <p:spPr bwMode="auto">
          <a:xfrm>
            <a:off x="36000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Convierte eBPF a instrucciones nativas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354496" name="Forma libre: forma 67"/>
          <p:cNvSpPr/>
          <p:nvPr/>
        </p:nvSpPr>
        <p:spPr bwMode="auto">
          <a:xfrm>
            <a:off x="718812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  <a:ea typeface="Century Gothic"/>
              </a:rPr>
              <a:t>Mejora el rendimiento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933211" name="Forma libre: forma 68"/>
          <p:cNvSpPr/>
          <p:nvPr/>
        </p:nvSpPr>
        <p:spPr bwMode="auto"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Se ejecuta dentro del kernel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3815192" name="Rectángulo 69"/>
          <p:cNvSpPr/>
          <p:nvPr/>
        </p:nvSpPr>
        <p:spPr bwMode="auto">
          <a:xfrm>
            <a:off x="1080000" y="720000"/>
            <a:ext cx="1043964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¿Cómo funciona eBPF?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  <a:defRPr/>
            </a:pPr>
            <a:r>
              <a:rPr lang="es-MX" sz="2600" b="1" u="none" strike="noStrike">
                <a:solidFill>
                  <a:srgbClr val="FFFFFF"/>
                </a:solidFill>
                <a:latin typeface="Century Gothic"/>
              </a:rPr>
              <a:t>eBPF Hooks: ¿Cuándo se ejecuta? </a:t>
            </a: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677400" name="Forma libre: forma 70"/>
          <p:cNvSpPr/>
          <p:nvPr/>
        </p:nvSpPr>
        <p:spPr bwMode="auto">
          <a:xfrm>
            <a:off x="36000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Determinan qué evento dispara nuestro programa eBPF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198446" name="Forma libre: forma 71"/>
          <p:cNvSpPr/>
          <p:nvPr/>
        </p:nvSpPr>
        <p:spPr bwMode="auto">
          <a:xfrm>
            <a:off x="718812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  <a:ea typeface="Century Gothic"/>
              </a:rPr>
              <a:t>Ejemplos: kprobe, uprobe, tracepoint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94890" name="Forma libre: forma 72"/>
          <p:cNvSpPr/>
          <p:nvPr/>
        </p:nvSpPr>
        <p:spPr bwMode="auto"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Podemos engancharlo a diferentes partes del sistema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404685" name="Rectángulo 73"/>
          <p:cNvSpPr/>
          <p:nvPr/>
        </p:nvSpPr>
        <p:spPr bwMode="auto">
          <a:xfrm>
            <a:off x="1080000" y="720000"/>
            <a:ext cx="1043964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¿Como funciona eBPF? 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  <a:defRPr/>
            </a:pPr>
            <a:r>
              <a:rPr lang="es-MX" sz="2600" b="1" u="none" strike="noStrike">
                <a:solidFill>
                  <a:srgbClr val="FFFFFF"/>
                </a:solidFill>
                <a:latin typeface="Century Gothic"/>
              </a:rPr>
              <a:t>eBPF Maps: ¿Cómo compartimos los datos? </a:t>
            </a: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1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2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s-MX" sz="3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6241329" name="Forma libre: forma 74"/>
          <p:cNvSpPr/>
          <p:nvPr/>
        </p:nvSpPr>
        <p:spPr bwMode="auto">
          <a:xfrm>
            <a:off x="36000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Permiten guardar información desde eBPF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199857" name="Forma libre: forma 75"/>
          <p:cNvSpPr/>
          <p:nvPr/>
        </p:nvSpPr>
        <p:spPr bwMode="auto">
          <a:xfrm>
            <a:off x="7188120" y="2520000"/>
            <a:ext cx="3251519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  <a:ea typeface="Century Gothic"/>
              </a:rPr>
              <a:t>Python puede leer esos datos y convertirlos en métricas, logs o información útil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420582" name="Forma libre: forma 76"/>
          <p:cNvSpPr/>
          <p:nvPr/>
        </p:nvSpPr>
        <p:spPr bwMode="auto"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 fill="norm" stroke="1" extrusionOk="0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r>
              <a:rPr lang="es-MX" sz="2600" b="0" u="none" strike="noStrike">
                <a:solidFill>
                  <a:srgbClr val="FFFFFF"/>
                </a:solidFill>
                <a:latin typeface="Century Gothic"/>
              </a:rPr>
              <a:t>Compartir datos entre el kernel y aplicaciones en user space</a:t>
            </a:r>
            <a:endParaRPr lang="es-MX" sz="2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454322" name="CuadroTexto 77"/>
          <p:cNvSpPr/>
          <p:nvPr/>
        </p:nvSpPr>
        <p:spPr bwMode="auto">
          <a:xfrm>
            <a:off x="360000" y="867960"/>
            <a:ext cx="10079640" cy="543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04013297" name="Imagen 78" descr=""/>
          <p:cNvPicPr/>
          <p:nvPr/>
        </p:nvPicPr>
        <p:blipFill rotWithShape="1">
          <a:blip r:embed="rId3"/>
          <a:stretch/>
        </p:blipFill>
        <p:spPr bwMode="auto">
          <a:xfrm>
            <a:off x="3420000" y="900000"/>
            <a:ext cx="5039280" cy="5065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292684" name="CuadroTexto 79"/>
          <p:cNvSpPr/>
          <p:nvPr/>
        </p:nvSpPr>
        <p:spPr bwMode="auto">
          <a:xfrm>
            <a:off x="360000" y="867960"/>
            <a:ext cx="10295998" cy="4850763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ES" sz="3600" b="1" u="none" strike="noStrike">
                <a:solidFill>
                  <a:srgbClr val="FFFFFF"/>
                </a:solidFill>
                <a:latin typeface="KoHo"/>
              </a:rPr>
              <a:t>Donde usarlo</a:t>
            </a:r>
            <a:r>
              <a:rPr lang="es-ES" sz="3600" b="1" u="none" strike="noStrike">
                <a:solidFill>
                  <a:srgbClr val="FFFFFF"/>
                </a:solidFill>
                <a:latin typeface="KoHo"/>
              </a:rPr>
              <a:t>:</a:t>
            </a:r>
            <a:endParaRPr lang="es-ES" sz="36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ES" sz="2400" b="1" u="none" strike="noStrike">
                <a:solidFill>
                  <a:srgbClr val="FFFFFF"/>
                </a:solidFill>
                <a:latin typeface="Century Gothic"/>
              </a:rPr>
              <a:t>Monitor de comandos sospechosos</a:t>
            </a:r>
            <a:r>
              <a:rPr lang="es-ES" sz="2400" b="0" u="none" strike="noStrike">
                <a:solidFill>
                  <a:srgbClr val="FFFFFF"/>
                </a:solidFill>
                <a:latin typeface="Century Gothic"/>
              </a:rPr>
              <a:t>: Observar llamadas </a:t>
            </a:r>
            <a:r>
              <a:rPr lang="es-ES" sz="2400" b="0" u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</a:rPr>
              <a:t>execve</a:t>
            </a:r>
            <a:r>
              <a:rPr lang="es-ES" sz="2400" b="0" u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</a:rPr>
              <a:t>() </a:t>
            </a:r>
            <a:r>
              <a:rPr lang="es-ES" sz="2400" b="0" i="0" u="none" strike="noStrike" cap="none" spc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para saber qu</a:t>
            </a:r>
            <a:r>
              <a:rPr lang="es-ES" sz="2400" b="0" i="0" u="none" strike="noStrike" cap="none" spc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é</a:t>
            </a:r>
            <a:r>
              <a:rPr lang="es-ES" sz="2400" b="0" i="0" u="none" strike="noStrike" cap="none" spc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 comandos </a:t>
            </a:r>
            <a:r>
              <a:rPr lang="es-ES" sz="2400" b="0" i="0" u="none" strike="noStrike" cap="none" spc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se</a:t>
            </a:r>
            <a:r>
              <a:rPr lang="es-ES" sz="2400" b="0" i="0" u="none" strike="noStrike" cap="none" spc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 están ejecutando en el sistema</a:t>
            </a:r>
            <a:endParaRPr lang="es-ES" sz="2400" b="0" i="0" u="none" strike="noStrike" cap="none" spc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defTabSz="914400">
              <a:lnSpc>
                <a:spcPct val="100000"/>
              </a:lnSpc>
              <a:spcBef>
                <a:spcPts val="1189"/>
              </a:spcBef>
              <a:spcAft>
                <a:spcPts val="991"/>
              </a:spcAft>
              <a:defRPr/>
            </a:pPr>
            <a:endParaRPr lang="es-ES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ES" sz="2400" b="1" u="none" strike="noStrike">
                <a:solidFill>
                  <a:srgbClr val="FFFFFF"/>
                </a:solidFill>
                <a:latin typeface="Century Gothic"/>
              </a:rPr>
              <a:t>Observabilidad en Kubernetes</a:t>
            </a:r>
            <a:r>
              <a:rPr lang="es-ES" sz="2400" b="0" u="none" strike="noStrike">
                <a:solidFill>
                  <a:srgbClr val="FFFFFF"/>
                </a:solidFill>
                <a:latin typeface="Century Gothic"/>
              </a:rPr>
              <a:t>: </a:t>
            </a:r>
            <a:r>
              <a:rPr lang="es-ES" sz="2400" b="0" u="none" strike="noStrike">
                <a:solidFill>
                  <a:srgbClr val="FFFFFF"/>
                </a:solidFill>
                <a:latin typeface="Century Gothic"/>
              </a:rPr>
              <a:t>Asociar pods, containers, cgroups con actividad del kernel. Observabilidad a nivel de nodo.</a:t>
            </a:r>
            <a:endParaRPr lang="es-ES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89"/>
              </a:spcBef>
              <a:spcAft>
                <a:spcPts val="99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endParaRPr lang="es-ES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ES" sz="2400" b="1" u="none" strike="noStrike">
                <a:solidFill>
                  <a:srgbClr val="FFFFFF"/>
                </a:solidFill>
                <a:latin typeface="Century Gothic"/>
              </a:rPr>
              <a:t>Detección de DDoS</a:t>
            </a:r>
            <a:r>
              <a:rPr lang="es-ES" sz="2400" b="0" u="none" strike="noStrike">
                <a:solidFill>
                  <a:srgbClr val="FFFFFF"/>
                </a:solidFill>
                <a:latin typeface="Century Gothic"/>
              </a:rPr>
              <a:t>: </a:t>
            </a:r>
            <a:r>
              <a:rPr lang="es-ES" sz="2400" b="0" i="0" u="none" strike="noStrike" cap="none" spc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Detectar patrones anormales en el tráfico de red de nuestro sistema. </a:t>
            </a:r>
            <a:r>
              <a:rPr lang="es-ES" sz="2400" b="0" u="none" strike="noStrike">
                <a:solidFill>
                  <a:srgbClr val="FFFFFF"/>
                </a:solidFill>
                <a:latin typeface="Century Gothic"/>
              </a:rPr>
              <a:t> </a:t>
            </a:r>
            <a:endParaRPr lang="es-ES" sz="2400" b="0" u="none" strike="noStrike">
              <a:solidFill>
                <a:srgbClr val="FFFFFF"/>
              </a:solidFill>
              <a:latin typeface="Century Gothic"/>
            </a:endParaRPr>
          </a:p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2"/>
              </a:spcAft>
              <a:defRPr/>
            </a:pPr>
            <a:endParaRPr lang="es-ES" sz="24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85459" name="CuadroTexto 79"/>
          <p:cNvSpPr/>
          <p:nvPr/>
        </p:nvSpPr>
        <p:spPr bwMode="auto">
          <a:xfrm>
            <a:off x="360000" y="867960"/>
            <a:ext cx="10079640" cy="43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s-MX" sz="3600" b="1" u="none" strike="noStrike">
                <a:solidFill>
                  <a:srgbClr val="FFFFFF"/>
                </a:solidFill>
                <a:latin typeface="KoHo"/>
              </a:rPr>
              <a:t>Puntos clave:</a:t>
            </a:r>
            <a:endParaRPr lang="es-MX" sz="36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eBPF ejecuta programas seguros y aislados dentro del kernel 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El verifier garantiza la seguridad; los maps hacen que eBPF sea útil 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Python es un excelente plano de control para cargar programas y leer datos 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0"/>
              </a:spcBef>
              <a:spcAft>
                <a:spcPts val="99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s-MX" sz="2400" b="0" u="none" strike="noStrike">
                <a:solidFill>
                  <a:srgbClr val="FFFFFF"/>
                </a:solidFill>
                <a:latin typeface="Century Gothic"/>
              </a:rPr>
              <a:t>eBPF es ideal para observabilidad, redes y seguridad</a:t>
            </a: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1"/>
              </a:spcAft>
              <a:defRPr/>
            </a:pPr>
            <a:endParaRPr lang="es-MX" sz="24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0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Diseño personalizado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Diseño personalizado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Daniel Paredes</dc:creator>
  <dc:description/>
  <dc:language>es-MX</dc:language>
  <cp:lastModifiedBy/>
  <cp:revision>8</cp:revision>
  <dcterms:created xsi:type="dcterms:W3CDTF">2026-09-04T13:46:50Z</dcterms:created>
  <dcterms:modified xsi:type="dcterms:W3CDTF">2026-10-02T22:25:35Z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15</vt:i4>
  </property>
</Properties>
</file>