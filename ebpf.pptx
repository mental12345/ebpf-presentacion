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 / Texto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body"/>
          </p:nvPr>
        </p:nvSpPr>
        <p:spPr>
          <a:xfrm>
            <a:off x="6272640" y="647640"/>
            <a:ext cx="5214960" cy="556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703080" y="647640"/>
            <a:ext cx="5214960" cy="5561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ítulo / Contenido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95160" y="520200"/>
            <a:ext cx="10800360" cy="74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95160" y="1471680"/>
            <a:ext cx="10800360" cy="486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sentació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068480" y="1120320"/>
            <a:ext cx="50263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ítulo / Subtítulo / Contenido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95160" y="520200"/>
            <a:ext cx="10800360" cy="74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695160" y="2015280"/>
            <a:ext cx="10800360" cy="432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95160" y="1267920"/>
            <a:ext cx="10800360" cy="47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tiva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body"/>
          </p:nvPr>
        </p:nvSpPr>
        <p:spPr>
          <a:xfrm>
            <a:off x="380160" y="414000"/>
            <a:ext cx="5537880" cy="60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273000" y="414000"/>
            <a:ext cx="5537880" cy="60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ódigo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body"/>
          </p:nvPr>
        </p:nvSpPr>
        <p:spPr>
          <a:xfrm>
            <a:off x="421200" y="414000"/>
            <a:ext cx="11348280" cy="60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ítulo / Contenido / Image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60320" y="761040"/>
            <a:ext cx="5537880" cy="89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60320" y="2109600"/>
            <a:ext cx="5537880" cy="39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 Puntos Rápidos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34;p13"/>
          <p:cNvSpPr/>
          <p:nvPr/>
        </p:nvSpPr>
        <p:spPr>
          <a:xfrm>
            <a:off x="3583800" y="9687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ES" sz="1800" strike="noStrike" u="none">
                <a:solidFill>
                  <a:schemeClr val="lt1"/>
                </a:solidFill>
                <a:effectLst/>
                <a:uFillTx/>
                <a:latin typeface="KoHo SemiBold"/>
                <a:ea typeface="KoHo SemiBold"/>
              </a:rPr>
              <a:t>01</a:t>
            </a:r>
            <a:endParaRPr b="0" lang="es-MX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35;p13"/>
          <p:cNvSpPr/>
          <p:nvPr/>
        </p:nvSpPr>
        <p:spPr>
          <a:xfrm>
            <a:off x="6285240" y="9687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ES" sz="1800" strike="noStrike" u="none">
                <a:solidFill>
                  <a:schemeClr val="lt1"/>
                </a:solidFill>
                <a:effectLst/>
                <a:uFillTx/>
                <a:latin typeface="KoHo SemiBold"/>
                <a:ea typeface="KoHo SemiBold"/>
              </a:rPr>
              <a:t>02</a:t>
            </a:r>
            <a:endParaRPr b="0" lang="es-MX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36;p13"/>
          <p:cNvSpPr/>
          <p:nvPr/>
        </p:nvSpPr>
        <p:spPr>
          <a:xfrm>
            <a:off x="8996760" y="9687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ES" sz="1800" strike="noStrike" u="none">
                <a:solidFill>
                  <a:schemeClr val="lt1"/>
                </a:solidFill>
                <a:effectLst/>
                <a:uFillTx/>
                <a:latin typeface="KoHo SemiBold"/>
                <a:ea typeface="KoHo SemiBold"/>
              </a:rPr>
              <a:t>03</a:t>
            </a:r>
            <a:endParaRPr b="0" lang="es-MX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37;p13"/>
          <p:cNvSpPr/>
          <p:nvPr/>
        </p:nvSpPr>
        <p:spPr>
          <a:xfrm>
            <a:off x="3583800" y="40125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ES" sz="1800" strike="noStrike" u="none">
                <a:solidFill>
                  <a:schemeClr val="lt1"/>
                </a:solidFill>
                <a:effectLst/>
                <a:uFillTx/>
                <a:latin typeface="KoHo SemiBold"/>
                <a:ea typeface="KoHo SemiBold"/>
              </a:rPr>
              <a:t>04</a:t>
            </a:r>
            <a:endParaRPr b="0" lang="es-MX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38;p13"/>
          <p:cNvSpPr/>
          <p:nvPr/>
        </p:nvSpPr>
        <p:spPr>
          <a:xfrm>
            <a:off x="6285240" y="40125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ES" sz="1800" strike="noStrike" u="none">
                <a:solidFill>
                  <a:schemeClr val="lt1"/>
                </a:solidFill>
                <a:effectLst/>
                <a:uFillTx/>
                <a:latin typeface="KoHo SemiBold"/>
                <a:ea typeface="KoHo SemiBold"/>
              </a:rPr>
              <a:t>05</a:t>
            </a:r>
            <a:endParaRPr b="0" lang="es-MX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39;p13"/>
          <p:cNvSpPr/>
          <p:nvPr/>
        </p:nvSpPr>
        <p:spPr>
          <a:xfrm>
            <a:off x="8996760" y="4012560"/>
            <a:ext cx="759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ES" sz="1800" strike="noStrike" u="none">
                <a:solidFill>
                  <a:schemeClr val="lt1"/>
                </a:solidFill>
                <a:effectLst/>
                <a:uFillTx/>
                <a:latin typeface="KoHo SemiBold"/>
                <a:ea typeface="KoHo SemiBold"/>
              </a:rPr>
              <a:t>06</a:t>
            </a:r>
            <a:endParaRPr b="0" lang="es-MX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48280" y="1000440"/>
            <a:ext cx="2437200" cy="500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583800" y="166284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85240" y="166284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8996760" y="166284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body"/>
          </p:nvPr>
        </p:nvSpPr>
        <p:spPr>
          <a:xfrm>
            <a:off x="3583800" y="471456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body"/>
          </p:nvPr>
        </p:nvSpPr>
        <p:spPr>
          <a:xfrm>
            <a:off x="6285240" y="471456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7"/>
          <p:cNvSpPr>
            <a:spLocks noGrp="1"/>
          </p:cNvSpPr>
          <p:nvPr>
            <p:ph type="body"/>
          </p:nvPr>
        </p:nvSpPr>
        <p:spPr>
          <a:xfrm>
            <a:off x="8996760" y="4714560"/>
            <a:ext cx="2169360" cy="12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 Puntos Importantes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48;p14"/>
          <p:cNvSpPr/>
          <p:nvPr/>
        </p:nvSpPr>
        <p:spPr>
          <a:xfrm>
            <a:off x="5862600" y="507960"/>
            <a:ext cx="9669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ES" sz="1800" strike="noStrike" u="none">
                <a:solidFill>
                  <a:schemeClr val="lt2"/>
                </a:solidFill>
                <a:effectLst/>
                <a:uFillTx/>
                <a:latin typeface="KoHo SemiBold"/>
                <a:ea typeface="KoHo SemiBold"/>
              </a:rPr>
              <a:t>01</a:t>
            </a:r>
            <a:endParaRPr b="0" lang="es-MX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Google Shape;49;p14"/>
          <p:cNvSpPr/>
          <p:nvPr/>
        </p:nvSpPr>
        <p:spPr>
          <a:xfrm>
            <a:off x="8905320" y="507960"/>
            <a:ext cx="9669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ES" sz="1800" strike="noStrike" u="none">
                <a:solidFill>
                  <a:schemeClr val="lt2"/>
                </a:solidFill>
                <a:effectLst/>
                <a:uFillTx/>
                <a:latin typeface="KoHo SemiBold"/>
                <a:ea typeface="KoHo SemiBold"/>
              </a:rPr>
              <a:t>02</a:t>
            </a:r>
            <a:endParaRPr b="0" lang="es-MX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50;p14"/>
          <p:cNvSpPr/>
          <p:nvPr/>
        </p:nvSpPr>
        <p:spPr>
          <a:xfrm>
            <a:off x="5862600" y="3548160"/>
            <a:ext cx="9669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ES" sz="1800" strike="noStrike" u="none">
                <a:solidFill>
                  <a:schemeClr val="lt2"/>
                </a:solidFill>
                <a:effectLst/>
                <a:uFillTx/>
                <a:latin typeface="KoHo SemiBold"/>
                <a:ea typeface="KoHo SemiBold"/>
              </a:rPr>
              <a:t>03</a:t>
            </a:r>
            <a:endParaRPr b="0" lang="es-MX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Google Shape;51;p14"/>
          <p:cNvSpPr/>
          <p:nvPr/>
        </p:nvSpPr>
        <p:spPr>
          <a:xfrm>
            <a:off x="8905320" y="3548160"/>
            <a:ext cx="9669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s-ES" sz="1800" strike="noStrike" u="none">
                <a:solidFill>
                  <a:schemeClr val="lt2"/>
                </a:solidFill>
                <a:effectLst/>
                <a:uFillTx/>
                <a:latin typeface="KoHo SemiBold"/>
                <a:ea typeface="KoHo SemiBold"/>
              </a:rPr>
              <a:t>04</a:t>
            </a:r>
            <a:endParaRPr b="0" lang="es-MX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380160" y="507960"/>
            <a:ext cx="5001120" cy="49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5862600" y="1092960"/>
            <a:ext cx="2543400" cy="21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8905320" y="1092960"/>
            <a:ext cx="2543400" cy="21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5862600" y="4110480"/>
            <a:ext cx="2543400" cy="21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8905320" y="4110480"/>
            <a:ext cx="2543400" cy="21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80160" y="1354320"/>
            <a:ext cx="5001120" cy="49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ita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899360" y="1018440"/>
            <a:ext cx="8392320" cy="31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5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5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899360" y="4625280"/>
            <a:ext cx="8392320" cy="30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1899360" y="5106600"/>
            <a:ext cx="8392320" cy="30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cias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63;p16" descr=""/>
          <p:cNvPicPr/>
          <p:nvPr/>
        </p:nvPicPr>
        <p:blipFill>
          <a:blip r:embed="rId3"/>
          <a:srcRect l="14851" t="14597" r="15006" b="14691"/>
          <a:stretch/>
        </p:blipFill>
        <p:spPr>
          <a:xfrm>
            <a:off x="803160" y="3380400"/>
            <a:ext cx="195480" cy="19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Google Shape;64;p16" descr=""/>
          <p:cNvPicPr/>
          <p:nvPr/>
        </p:nvPicPr>
        <p:blipFill>
          <a:blip r:embed="rId4"/>
          <a:stretch/>
        </p:blipFill>
        <p:spPr>
          <a:xfrm>
            <a:off x="801360" y="3807000"/>
            <a:ext cx="196920" cy="19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Google Shape;65;p16" descr=""/>
          <p:cNvPicPr/>
          <p:nvPr/>
        </p:nvPicPr>
        <p:blipFill>
          <a:blip r:embed="rId5"/>
          <a:stretch/>
        </p:blipFill>
        <p:spPr>
          <a:xfrm>
            <a:off x="765360" y="427536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body"/>
          </p:nvPr>
        </p:nvSpPr>
        <p:spPr>
          <a:xfrm>
            <a:off x="760320" y="2538360"/>
            <a:ext cx="4678560" cy="36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25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1194480" y="3292560"/>
            <a:ext cx="4244760" cy="36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25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1194480" y="3764160"/>
            <a:ext cx="4244760" cy="36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25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1194480" y="4223880"/>
            <a:ext cx="4244760" cy="36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25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6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title"/>
          </p:nvPr>
        </p:nvSpPr>
        <p:spPr>
          <a:xfrm>
            <a:off x="760320" y="576000"/>
            <a:ext cx="4678560" cy="169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70000" lnSpcReduction="19999"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6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6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acia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ángulo 48"/>
          <p:cNvSpPr/>
          <p:nvPr/>
        </p:nvSpPr>
        <p:spPr>
          <a:xfrm>
            <a:off x="1440000" y="1980000"/>
            <a:ext cx="8999280" cy="187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s-MX" sz="4000" strike="noStrike" u="none">
                <a:solidFill>
                  <a:srgbClr val="ffffff"/>
                </a:solidFill>
                <a:effectLst/>
                <a:uFillTx/>
                <a:latin typeface="KoHo Medium"/>
              </a:rPr>
              <a:t>eBPF y Python: Observabilidad en Linux desde Python</a:t>
            </a:r>
            <a:endParaRPr b="0" lang="es-MX" sz="4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s-MX" sz="2000" strike="noStrike" u="none">
                <a:solidFill>
                  <a:srgbClr val="ffffff"/>
                </a:solidFill>
                <a:effectLst/>
                <a:uFillTx/>
                <a:latin typeface="KoHo Medium"/>
              </a:rPr>
              <a:t>Ramón Esparza </a:t>
            </a:r>
            <a:endParaRPr b="0" lang="es-MX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s-MX" sz="1600" strike="noStrike" u="none">
                <a:solidFill>
                  <a:srgbClr val="ffffff"/>
                </a:solidFill>
                <a:effectLst/>
                <a:uFillTx/>
                <a:latin typeface="KoHo Medium"/>
              </a:rPr>
              <a:t>Staff SRE @ Wizeline</a:t>
            </a:r>
            <a:endParaRPr b="0" lang="es-MX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n 49" descr=""/>
          <p:cNvPicPr/>
          <p:nvPr/>
        </p:nvPicPr>
        <p:blipFill>
          <a:blip r:embed="rId1"/>
          <a:stretch/>
        </p:blipFill>
        <p:spPr>
          <a:xfrm>
            <a:off x="601200" y="1620000"/>
            <a:ext cx="2638080" cy="37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Rectángulo 50"/>
          <p:cNvSpPr/>
          <p:nvPr/>
        </p:nvSpPr>
        <p:spPr>
          <a:xfrm>
            <a:off x="3960000" y="2196360"/>
            <a:ext cx="4859280" cy="24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s-MX" sz="28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Ramón Esparza</a:t>
            </a:r>
            <a:endParaRPr b="0" lang="es-MX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s-MX" sz="28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Staff SRE/DevOps</a:t>
            </a:r>
            <a:endParaRPr b="0" lang="es-MX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s-MX" sz="28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@ Wizeline</a:t>
            </a:r>
            <a:endParaRPr b="0" lang="es-MX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1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blog.ramonesparza.net</a:t>
            </a: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1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linkedin.com/in/ramonesparza</a:t>
            </a: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ángulo 51"/>
          <p:cNvSpPr/>
          <p:nvPr/>
        </p:nvSpPr>
        <p:spPr>
          <a:xfrm>
            <a:off x="1044000" y="900000"/>
            <a:ext cx="8855640" cy="50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s-MX" sz="3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Índice </a:t>
            </a: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Problema</a:t>
            </a: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¿Cómo lo solucionamos? ¿Qué es eBPF?</a:t>
            </a: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¿Cómo funciona eBPF? </a:t>
            </a: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Demo</a:t>
            </a: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Puntos clave</a:t>
            </a: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ángulo 52"/>
          <p:cNvSpPr/>
          <p:nvPr/>
        </p:nvSpPr>
        <p:spPr>
          <a:xfrm>
            <a:off x="1080000" y="720000"/>
            <a:ext cx="8999640" cy="538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s-MX" sz="28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El kernel lo ve todo:</a:t>
            </a:r>
            <a:endParaRPr b="0" lang="es-MX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Red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Disco 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Procesos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SysCalls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s-MX" sz="28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Observar qué está haciendo el kernel significa: </a:t>
            </a:r>
            <a:endParaRPr b="0" lang="es-MX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Usar herramientas que funcionan en user space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Escribir un modulo de Kernel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Hacer un parche y recompilar el Kernel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ángulo 53"/>
          <p:cNvSpPr/>
          <p:nvPr/>
        </p:nvSpPr>
        <p:spPr>
          <a:xfrm>
            <a:off x="1080000" y="720000"/>
            <a:ext cx="6299280" cy="29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s-MX" sz="3600" strike="noStrike" u="none">
                <a:solidFill>
                  <a:srgbClr val="ffffff"/>
                </a:solidFill>
                <a:effectLst/>
                <a:uFillTx/>
                <a:latin typeface="KoHo"/>
              </a:rPr>
              <a:t>¿Qué queremos? </a:t>
            </a: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" name="Imagen 54" descr=""/>
          <p:cNvPicPr/>
          <p:nvPr/>
        </p:nvPicPr>
        <p:blipFill>
          <a:blip r:embed="rId1"/>
          <a:srcRect l="0" t="0" r="5" b="16941"/>
          <a:stretch/>
        </p:blipFill>
        <p:spPr>
          <a:xfrm>
            <a:off x="1980360" y="1980000"/>
            <a:ext cx="7019280" cy="431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ángulo 55"/>
          <p:cNvSpPr/>
          <p:nvPr/>
        </p:nvSpPr>
        <p:spPr>
          <a:xfrm>
            <a:off x="1080000" y="720000"/>
            <a:ext cx="6299280" cy="711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s-MX" sz="3600" strike="noStrike" u="none">
                <a:solidFill>
                  <a:srgbClr val="ffffff"/>
                </a:solidFill>
                <a:effectLst/>
                <a:uFillTx/>
                <a:latin typeface="KoHo"/>
              </a:rPr>
              <a:t>¿Qué es eBPF? </a:t>
            </a: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b="0" lang="es-MX" sz="21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¡eBPF es una tecnología asombrosa! Nos permite interactuar con el Kernel de Linux desde el </a:t>
            </a:r>
            <a:r>
              <a:rPr b="0" lang="es-MX" sz="2100" strike="noStrike" u="sng">
                <a:solidFill>
                  <a:srgbClr val="ffffff"/>
                </a:solidFill>
                <a:effectLst/>
                <a:uFillTx/>
                <a:latin typeface="Century Gothic"/>
              </a:rPr>
              <a:t>user</a:t>
            </a:r>
            <a:r>
              <a:rPr b="0" lang="es-MX" sz="21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 space.</a:t>
            </a: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b="0" lang="es-MX" sz="21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¿Cómo lo hace? Ejecuta programas pequeños </a:t>
            </a:r>
            <a:r>
              <a:rPr b="1" lang="es-MX" sz="21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dentro del kernel</a:t>
            </a: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57" name="Grupo 56"/>
          <p:cNvGrpSpPr/>
          <p:nvPr/>
        </p:nvGrpSpPr>
        <p:grpSpPr>
          <a:xfrm>
            <a:off x="4500360" y="2967120"/>
            <a:ext cx="3958920" cy="2072160"/>
            <a:chOff x="4500360" y="2967120"/>
            <a:chExt cx="3958920" cy="2072160"/>
          </a:xfrm>
        </p:grpSpPr>
        <p:pic>
          <p:nvPicPr>
            <p:cNvPr id="58" name="Imagen 57" descr=""/>
            <p:cNvPicPr/>
            <p:nvPr/>
          </p:nvPicPr>
          <p:blipFill>
            <a:blip r:embed="rId1"/>
            <a:stretch/>
          </p:blipFill>
          <p:spPr>
            <a:xfrm>
              <a:off x="5488200" y="3143520"/>
              <a:ext cx="2971080" cy="17820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9" name="Imagen 58" descr=""/>
            <p:cNvPicPr/>
            <p:nvPr/>
          </p:nvPicPr>
          <p:blipFill>
            <a:blip r:embed="rId2"/>
            <a:stretch/>
          </p:blipFill>
          <p:spPr>
            <a:xfrm>
              <a:off x="4500360" y="2967120"/>
              <a:ext cx="1761840" cy="20721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ángulo 59"/>
          <p:cNvSpPr/>
          <p:nvPr/>
        </p:nvSpPr>
        <p:spPr>
          <a:xfrm>
            <a:off x="1080000" y="720000"/>
            <a:ext cx="6299280" cy="327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s-MX" sz="3600" strike="noStrike" u="none">
                <a:solidFill>
                  <a:srgbClr val="ffffff"/>
                </a:solidFill>
                <a:effectLst/>
                <a:uFillTx/>
                <a:latin typeface="KoHo"/>
              </a:rPr>
              <a:t>¿Cómo funciona eBPF? </a:t>
            </a: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" name="Imagen 60" descr=""/>
          <p:cNvPicPr/>
          <p:nvPr/>
        </p:nvPicPr>
        <p:blipFill>
          <a:blip r:embed="rId1"/>
          <a:stretch/>
        </p:blipFill>
        <p:spPr>
          <a:xfrm>
            <a:off x="720000" y="1080000"/>
            <a:ext cx="8999640" cy="5883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ángulo 61"/>
          <p:cNvSpPr/>
          <p:nvPr/>
        </p:nvSpPr>
        <p:spPr>
          <a:xfrm>
            <a:off x="1080000" y="720000"/>
            <a:ext cx="10439640" cy="280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s-MX" sz="3600" strike="noStrike" u="none">
                <a:solidFill>
                  <a:srgbClr val="ffffff"/>
                </a:solidFill>
                <a:effectLst/>
                <a:uFillTx/>
                <a:latin typeface="KoHo"/>
              </a:rPr>
              <a:t>¿Cómo funciona eBPF? </a:t>
            </a: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Font typeface="OpenSymbol"/>
              <a:buAutoNum type="arabicParenR"/>
            </a:pPr>
            <a:r>
              <a:rPr b="1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eBPF Verifier: ¿Es seguro nuestro programa?</a:t>
            </a: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 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Forma libre: forma 62"/>
          <p:cNvSpPr/>
          <p:nvPr/>
        </p:nvSpPr>
        <p:spPr>
          <a:xfrm>
            <a:off x="360000" y="2520000"/>
            <a:ext cx="3251520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Cada programa es analizado antes de ejecución.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orma libre: forma 63"/>
          <p:cNvSpPr/>
          <p:nvPr/>
        </p:nvSpPr>
        <p:spPr>
          <a:xfrm>
            <a:off x="7188120" y="2520000"/>
            <a:ext cx="3251520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  <a:ea typeface="Century Gothic"/>
              </a:rPr>
              <a:t>Protege el kernel: Un programa de eBPF no puede comprometer el kernel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orma libre: forma 64"/>
          <p:cNvSpPr/>
          <p:nvPr/>
        </p:nvSpPr>
        <p:spPr>
          <a:xfrm>
            <a:off x="3774240" y="2520000"/>
            <a:ext cx="3251160" cy="3419640"/>
          </a:xfrm>
          <a:custGeom>
            <a:avLst/>
            <a:gdLst>
              <a:gd name="textAreaLeft" fmla="*/ 158400 w 3251160"/>
              <a:gd name="textAreaRight" fmla="*/ 3093120 w 3251160"/>
              <a:gd name="textAreaTop" fmla="*/ 158400 h 3419640"/>
              <a:gd name="textAreaBottom" fmla="*/ 3261600 h 3419640"/>
            </a:gdLst>
            <a:ahLst/>
            <a:cxnLst/>
            <a:rect l="textAreaLeft" t="textAreaTop" r="textAreaRight" b="textAreaBottom"/>
            <a:pathLst>
              <a:path w="21600" h="22719">
                <a:moveTo>
                  <a:pt x="3600" y="0"/>
                </a:moveTo>
                <a:arcTo wR="3600" hR="3600" stAng="16200000" swAng="-5400000"/>
                <a:lnTo>
                  <a:pt x="0" y="19119"/>
                </a:lnTo>
                <a:arcTo wR="3600" hR="3600" stAng="10800000" swAng="-5400000"/>
                <a:lnTo>
                  <a:pt x="18000" y="2271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Evita procedimientos peligrosos: </a:t>
            </a:r>
            <a:br>
              <a:rPr sz="2600"/>
            </a:b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ciclos infinitos o accesos inválidos en memoria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ángulo 65"/>
          <p:cNvSpPr/>
          <p:nvPr/>
        </p:nvSpPr>
        <p:spPr>
          <a:xfrm>
            <a:off x="1080000" y="720000"/>
            <a:ext cx="10439640" cy="28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s-MX" sz="3600" strike="noStrike" u="none">
                <a:solidFill>
                  <a:srgbClr val="ffffff"/>
                </a:solidFill>
                <a:effectLst/>
                <a:uFillTx/>
                <a:latin typeface="KoHo"/>
              </a:rPr>
              <a:t>¿Cómo funciona eBPF? </a:t>
            </a: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Font typeface="OpenSymbol"/>
              <a:buAutoNum type="arabicParenR"/>
            </a:pPr>
            <a:r>
              <a:rPr b="1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eBPF JIT Compiler: ¿Cómo se ejecuta nuestro programa?</a:t>
            </a: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  </a:t>
            </a:r>
            <a:endParaRPr b="0" lang="es-MX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Forma libre: forma 66"/>
          <p:cNvSpPr/>
          <p:nvPr/>
        </p:nvSpPr>
        <p:spPr>
          <a:xfrm>
            <a:off x="360000" y="2520000"/>
            <a:ext cx="3251520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Convierte eBPF a instrucciones nativas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orma libre: forma 67"/>
          <p:cNvSpPr/>
          <p:nvPr/>
        </p:nvSpPr>
        <p:spPr>
          <a:xfrm>
            <a:off x="7188120" y="2520000"/>
            <a:ext cx="3251520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  <a:ea typeface="Century Gothic"/>
              </a:rPr>
              <a:t>Mejora el rendimiento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Forma libre: forma 68"/>
          <p:cNvSpPr/>
          <p:nvPr/>
        </p:nvSpPr>
        <p:spPr>
          <a:xfrm>
            <a:off x="3774240" y="2520000"/>
            <a:ext cx="3251160" cy="3419640"/>
          </a:xfrm>
          <a:custGeom>
            <a:avLst/>
            <a:gdLst>
              <a:gd name="textAreaLeft" fmla="*/ 158400 w 3251160"/>
              <a:gd name="textAreaRight" fmla="*/ 3093120 w 3251160"/>
              <a:gd name="textAreaTop" fmla="*/ 158400 h 3419640"/>
              <a:gd name="textAreaBottom" fmla="*/ 3261600 h 3419640"/>
            </a:gdLst>
            <a:ahLst/>
            <a:cxnLst/>
            <a:rect l="textAreaLeft" t="textAreaTop" r="textAreaRight" b="textAreaBottom"/>
            <a:pathLst>
              <a:path w="21600" h="22719">
                <a:moveTo>
                  <a:pt x="3600" y="0"/>
                </a:moveTo>
                <a:arcTo wR="3600" hR="3600" stAng="16200000" swAng="-5400000"/>
                <a:lnTo>
                  <a:pt x="0" y="19119"/>
                </a:lnTo>
                <a:arcTo wR="3600" hR="3600" stAng="10800000" swAng="-5400000"/>
                <a:lnTo>
                  <a:pt x="18000" y="2271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Se ejecuta dentro del kernel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ángulo 69"/>
          <p:cNvSpPr/>
          <p:nvPr/>
        </p:nvSpPr>
        <p:spPr>
          <a:xfrm>
            <a:off x="1080000" y="720000"/>
            <a:ext cx="10439640" cy="28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s-MX" sz="3600" strike="noStrike" u="none">
                <a:solidFill>
                  <a:srgbClr val="ffffff"/>
                </a:solidFill>
                <a:effectLst/>
                <a:uFillTx/>
                <a:latin typeface="KoHo"/>
              </a:rPr>
              <a:t>¿Cómo funciona eBPF? </a:t>
            </a: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Font typeface="OpenSymbol"/>
              <a:buAutoNum type="arabicParenR"/>
            </a:pPr>
            <a:r>
              <a:rPr b="1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eBPF Hooks: ¿Cuándo se ejecuta? </a:t>
            </a:r>
            <a:endParaRPr b="0" lang="es-MX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Forma libre: forma 70"/>
          <p:cNvSpPr/>
          <p:nvPr/>
        </p:nvSpPr>
        <p:spPr>
          <a:xfrm>
            <a:off x="360000" y="2520000"/>
            <a:ext cx="3251520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Determinan qué evento dispara nuestro programa eBPF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orma libre: forma 71"/>
          <p:cNvSpPr/>
          <p:nvPr/>
        </p:nvSpPr>
        <p:spPr>
          <a:xfrm>
            <a:off x="7188120" y="2520000"/>
            <a:ext cx="3251520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  <a:ea typeface="Century Gothic"/>
              </a:rPr>
              <a:t>Ejemplos: kprobe, uprobe, tracepoint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Forma libre: forma 72"/>
          <p:cNvSpPr/>
          <p:nvPr/>
        </p:nvSpPr>
        <p:spPr>
          <a:xfrm>
            <a:off x="3774240" y="2520000"/>
            <a:ext cx="3251160" cy="3419640"/>
          </a:xfrm>
          <a:custGeom>
            <a:avLst/>
            <a:gdLst>
              <a:gd name="textAreaLeft" fmla="*/ 158400 w 3251160"/>
              <a:gd name="textAreaRight" fmla="*/ 3093120 w 3251160"/>
              <a:gd name="textAreaTop" fmla="*/ 158400 h 3419640"/>
              <a:gd name="textAreaBottom" fmla="*/ 3261600 h 3419640"/>
            </a:gdLst>
            <a:ahLst/>
            <a:cxnLst/>
            <a:rect l="textAreaLeft" t="textAreaTop" r="textAreaRight" b="textAreaBottom"/>
            <a:pathLst>
              <a:path w="21600" h="22719">
                <a:moveTo>
                  <a:pt x="3600" y="0"/>
                </a:moveTo>
                <a:arcTo wR="3600" hR="3600" stAng="16200000" swAng="-5400000"/>
                <a:lnTo>
                  <a:pt x="0" y="19119"/>
                </a:lnTo>
                <a:arcTo wR="3600" hR="3600" stAng="10800000" swAng="-5400000"/>
                <a:lnTo>
                  <a:pt x="18000" y="2271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Podemos engancharlo a diferentes partes del sistema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ángulo 73"/>
          <p:cNvSpPr/>
          <p:nvPr/>
        </p:nvSpPr>
        <p:spPr>
          <a:xfrm>
            <a:off x="1080000" y="720000"/>
            <a:ext cx="10439640" cy="28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s-MX" sz="3600" strike="noStrike" u="none">
                <a:solidFill>
                  <a:srgbClr val="ffffff"/>
                </a:solidFill>
                <a:effectLst/>
                <a:uFillTx/>
                <a:latin typeface="KoHo"/>
              </a:rPr>
              <a:t>¿Como funciona eBPF? </a:t>
            </a: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ffffff"/>
              </a:buClr>
              <a:buFont typeface="OpenSymbol"/>
              <a:buAutoNum type="arabicParenR"/>
            </a:pPr>
            <a:r>
              <a:rPr b="1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eBPF Maps: ¿Cómo compartimos los datos? </a:t>
            </a:r>
            <a:endParaRPr b="0" lang="es-MX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Forma libre: forma 74"/>
          <p:cNvSpPr/>
          <p:nvPr/>
        </p:nvSpPr>
        <p:spPr>
          <a:xfrm>
            <a:off x="360000" y="2520000"/>
            <a:ext cx="3251520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Permiten guardar información desde eBPF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Forma libre: forma 75"/>
          <p:cNvSpPr/>
          <p:nvPr/>
        </p:nvSpPr>
        <p:spPr>
          <a:xfrm>
            <a:off x="7188120" y="2520000"/>
            <a:ext cx="3251520" cy="3419640"/>
          </a:xfrm>
          <a:custGeom>
            <a:avLst/>
            <a:gdLst>
              <a:gd name="textAreaLeft" fmla="*/ 158760 w 3251520"/>
              <a:gd name="textAreaRight" fmla="*/ 3093120 w 3251520"/>
              <a:gd name="textAreaTop" fmla="*/ 158760 h 3419640"/>
              <a:gd name="textAreaBottom" fmla="*/ 3261240 h 3419640"/>
            </a:gdLst>
            <a:ahLst/>
            <a:cxnLst/>
            <a:rect l="textAreaLeft" t="textAreaTop" r="textAreaRight" b="textAreaBottom"/>
            <a:pathLst>
              <a:path w="21600" h="22717">
                <a:moveTo>
                  <a:pt x="3600" y="0"/>
                </a:moveTo>
                <a:arcTo wR="3600" hR="3600" stAng="16200000" swAng="-5400000"/>
                <a:lnTo>
                  <a:pt x="0" y="19117"/>
                </a:lnTo>
                <a:arcTo wR="3600" hR="3600" stAng="10800000" swAng="-5400000"/>
                <a:lnTo>
                  <a:pt x="18000" y="22717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  <a:ea typeface="Century Gothic"/>
              </a:rPr>
              <a:t>Python puede leer esos datos y convertirlos en métricas, logs o información útil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Forma libre: forma 76"/>
          <p:cNvSpPr/>
          <p:nvPr/>
        </p:nvSpPr>
        <p:spPr>
          <a:xfrm>
            <a:off x="3774240" y="2520000"/>
            <a:ext cx="3251160" cy="3419640"/>
          </a:xfrm>
          <a:custGeom>
            <a:avLst/>
            <a:gdLst>
              <a:gd name="textAreaLeft" fmla="*/ 158400 w 3251160"/>
              <a:gd name="textAreaRight" fmla="*/ 3093120 w 3251160"/>
              <a:gd name="textAreaTop" fmla="*/ 158400 h 3419640"/>
              <a:gd name="textAreaBottom" fmla="*/ 3261600 h 3419640"/>
            </a:gdLst>
            <a:ahLst/>
            <a:cxnLst/>
            <a:rect l="textAreaLeft" t="textAreaTop" r="textAreaRight" b="textAreaBottom"/>
            <a:pathLst>
              <a:path w="21600" h="22719">
                <a:moveTo>
                  <a:pt x="3600" y="0"/>
                </a:moveTo>
                <a:arcTo wR="3600" hR="3600" stAng="16200000" swAng="-5400000"/>
                <a:lnTo>
                  <a:pt x="0" y="19119"/>
                </a:lnTo>
                <a:arcTo wR="3600" hR="3600" stAng="10800000" swAng="-5400000"/>
                <a:lnTo>
                  <a:pt x="18000" y="2271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Compartir datos entre el kernel y aplicaciones en user space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CuadroTexto 77"/>
          <p:cNvSpPr/>
          <p:nvPr/>
        </p:nvSpPr>
        <p:spPr>
          <a:xfrm>
            <a:off x="360000" y="867960"/>
            <a:ext cx="10079640" cy="543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" name="Imagen 78" descr=""/>
          <p:cNvPicPr/>
          <p:nvPr/>
        </p:nvPicPr>
        <p:blipFill>
          <a:blip r:embed="rId1"/>
          <a:stretch/>
        </p:blipFill>
        <p:spPr>
          <a:xfrm>
            <a:off x="3420000" y="900000"/>
            <a:ext cx="5039280" cy="506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adroTexto 79"/>
          <p:cNvSpPr/>
          <p:nvPr/>
        </p:nvSpPr>
        <p:spPr>
          <a:xfrm>
            <a:off x="360000" y="867960"/>
            <a:ext cx="10079640" cy="43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s-MX" sz="3600" strike="noStrike" u="none">
                <a:solidFill>
                  <a:srgbClr val="ffffff"/>
                </a:solidFill>
                <a:effectLst/>
                <a:uFillTx/>
                <a:latin typeface="KoHo"/>
              </a:rPr>
              <a:t>Puntos clave:</a:t>
            </a:r>
            <a:endParaRPr b="0" lang="es-MX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eBPF ejecuta programas seguros y aislados dentro del kernel 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El verifier garantiza la seguridad; los maps hacen que eBPF sea útil 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Python es un excelente plano de control para cargar programas y leer datos 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ffffff"/>
                </a:solidFill>
                <a:effectLst/>
                <a:uFillTx/>
                <a:latin typeface="Century Gothic"/>
              </a:rPr>
              <a:t>eBPF es ideal para observabilidad, redes y seguridad</a:t>
            </a: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iseño personalizado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LibreOffice/25.2.3.2$Linux_X86_64 LibreOffice_project/520$Build-2</Application>
  <AppVersion>15.0000</AppVersion>
  <Words>337</Words>
  <Paragraphs>91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2026-09-04T13:46:50Z</dcterms:created>
  <dc:creator>Daniel Paredes</dc:creator>
  <dc:description/>
  <dc:language>es-MX</dc:language>
  <cp:lastModifiedBy/>
  <cp:lastPrinted>2026-10-01T19:56:26Z</cp:lastPrinted>
  <dcterms:modified xsi:type="dcterms:W3CDTF">2026-10-01T20:23:31Z</dcterms:modified>
  <cp:revision>5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15</vt:i4>
  </property>
</Properties>
</file>