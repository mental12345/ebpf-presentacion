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bin" ContentType="application/vnd.openxmlformats-officedocument.oleObject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12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viewProps.xml" ContentType="application/vnd.openxmlformats-officedocument.presentationml.viewProps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0" d="0"/>
          <a:sy n="0" d="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05838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0033543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6046611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1728360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9566185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886603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53969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60579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27615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3C30EB-147E-4468-D68D-52A65F138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05781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9198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32353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AA549-E8F9-BEC2-F709-97ACA776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9502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8516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97141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F980E7-6312-1288-683B-BD1FF40ADA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8456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1256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43509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F9D111-BF22-E5E0-8DD2-105D7272DA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6222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0843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50392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4AEF257-6C5D-6D8E-F0CE-7DECAD61BF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1638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8260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25535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062827-544F-DF5E-7991-7ADBEB8C66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8596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43234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70533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A236D5-545E-3256-2EBA-891D74E14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8415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5584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37322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EE1EAD-7F4E-ECA7-57E1-A1AF5F26ABC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436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8477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10063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FA003B-B10D-8671-9213-E6707A6FF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9017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1592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902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E8CC45-DEB1-4EB3-0076-D61193F460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010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2004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555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779B4FD-7F1D-0072-A32A-A7A6A6CFD7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6326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25925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1304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80E132-F042-B423-9B61-0176A8E254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94050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533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7269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3B8EB4-2768-734F-29F2-79E18D5151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995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0213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18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B761BF-7D86-B67B-DEE2-E767B77E01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6549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42046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13652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64A4708-23DB-7AF8-A809-6F54BC0747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78082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745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6542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9E86FF-92A4-D53D-C104-3F4EF6E0E6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Imagen / Texto">
    <p:bg>
      <p:bgPr shadeToTitle="0"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5796846" name="PlaceHolder 1"/>
          <p:cNvSpPr>
            <a:spLocks noGrp="1"/>
          </p:cNvSpPr>
          <p:nvPr>
            <p:ph type="body"/>
          </p:nvPr>
        </p:nvSpPr>
        <p:spPr bwMode="auto">
          <a:xfrm>
            <a:off x="6272640" y="647640"/>
            <a:ext cx="5214960" cy="5561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30725195" name="PlaceHolder 2"/>
          <p:cNvSpPr>
            <a:spLocks noGrp="1"/>
          </p:cNvSpPr>
          <p:nvPr>
            <p:ph type="body"/>
          </p:nvPr>
        </p:nvSpPr>
        <p:spPr bwMode="auto">
          <a:xfrm>
            <a:off x="703080" y="647640"/>
            <a:ext cx="5214960" cy="5561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ítulo / Contenido">
    <p:bg>
      <p:bgPr shadeToTitle="0"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288460" name="PlaceHolder 1"/>
          <p:cNvSpPr>
            <a:spLocks noGrp="1"/>
          </p:cNvSpPr>
          <p:nvPr>
            <p:ph type="title"/>
          </p:nvPr>
        </p:nvSpPr>
        <p:spPr bwMode="auto">
          <a:xfrm>
            <a:off x="695160" y="520200"/>
            <a:ext cx="10800360" cy="74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3200" b="0" u="none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lang="es-MX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613062391" name="PlaceHolder 2"/>
          <p:cNvSpPr>
            <a:spLocks noGrp="1"/>
          </p:cNvSpPr>
          <p:nvPr>
            <p:ph type="body"/>
          </p:nvPr>
        </p:nvSpPr>
        <p:spPr bwMode="auto">
          <a:xfrm>
            <a:off x="695160" y="1471680"/>
            <a:ext cx="10800360" cy="486503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Presentación">
    <p:bg>
      <p:bgPr shadeToTitle="0"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263501" name="PlaceHolder 1"/>
          <p:cNvSpPr>
            <a:spLocks noGrp="1"/>
          </p:cNvSpPr>
          <p:nvPr>
            <p:ph type="title"/>
          </p:nvPr>
        </p:nvSpPr>
        <p:spPr bwMode="auto">
          <a:xfrm>
            <a:off x="1068480" y="1120320"/>
            <a:ext cx="5026320" cy="2386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4000" b="0" u="none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lang="es-MX" sz="4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ítulo / Subtítulo / Contenido">
    <p:bg>
      <p:bgPr shadeToTitle="0"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731413" name="PlaceHolder 1"/>
          <p:cNvSpPr>
            <a:spLocks noGrp="1"/>
          </p:cNvSpPr>
          <p:nvPr>
            <p:ph type="title"/>
          </p:nvPr>
        </p:nvSpPr>
        <p:spPr bwMode="auto">
          <a:xfrm>
            <a:off x="695160" y="520200"/>
            <a:ext cx="10800360" cy="74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3200" b="0" u="none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lang="es-MX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084269532" name="PlaceHolder 2"/>
          <p:cNvSpPr>
            <a:spLocks noGrp="1"/>
          </p:cNvSpPr>
          <p:nvPr>
            <p:ph type="body"/>
          </p:nvPr>
        </p:nvSpPr>
        <p:spPr bwMode="auto">
          <a:xfrm>
            <a:off x="695160" y="2015280"/>
            <a:ext cx="10800360" cy="4321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44660447" name="PlaceHolder 3"/>
          <p:cNvSpPr>
            <a:spLocks noGrp="1"/>
          </p:cNvSpPr>
          <p:nvPr>
            <p:ph type="body"/>
          </p:nvPr>
        </p:nvSpPr>
        <p:spPr bwMode="auto">
          <a:xfrm>
            <a:off x="695160" y="1267920"/>
            <a:ext cx="10800360" cy="470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omparativa">
    <p:bg>
      <p:bgPr shadeToTitle="0"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7056354" name="PlaceHolder 1"/>
          <p:cNvSpPr>
            <a:spLocks noGrp="1"/>
          </p:cNvSpPr>
          <p:nvPr>
            <p:ph type="body"/>
          </p:nvPr>
        </p:nvSpPr>
        <p:spPr bwMode="auto">
          <a:xfrm>
            <a:off x="380160" y="414000"/>
            <a:ext cx="5537880" cy="602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45178444" name="PlaceHolder 2"/>
          <p:cNvSpPr>
            <a:spLocks noGrp="1"/>
          </p:cNvSpPr>
          <p:nvPr>
            <p:ph type="body"/>
          </p:nvPr>
        </p:nvSpPr>
        <p:spPr bwMode="auto">
          <a:xfrm>
            <a:off x="6273000" y="414000"/>
            <a:ext cx="5537880" cy="602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ódigo">
    <p:bg>
      <p:bgPr shadeToTitle="0"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57582" name="PlaceHolder 1"/>
          <p:cNvSpPr>
            <a:spLocks noGrp="1"/>
          </p:cNvSpPr>
          <p:nvPr>
            <p:ph type="body"/>
          </p:nvPr>
        </p:nvSpPr>
        <p:spPr bwMode="auto">
          <a:xfrm>
            <a:off x="421200" y="414000"/>
            <a:ext cx="11348280" cy="6028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Título / Contenido / Imagen">
    <p:bg>
      <p:bgPr shadeToTitle="0"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165479" name="PlaceHolder 1"/>
          <p:cNvSpPr>
            <a:spLocks noGrp="1"/>
          </p:cNvSpPr>
          <p:nvPr>
            <p:ph type="title"/>
          </p:nvPr>
        </p:nvSpPr>
        <p:spPr bwMode="auto">
          <a:xfrm>
            <a:off x="760320" y="761040"/>
            <a:ext cx="5537880" cy="894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3200" b="0" u="none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lang="es-MX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78335745" name="PlaceHolder 2"/>
          <p:cNvSpPr>
            <a:spLocks noGrp="1"/>
          </p:cNvSpPr>
          <p:nvPr>
            <p:ph type="body"/>
          </p:nvPr>
        </p:nvSpPr>
        <p:spPr bwMode="auto">
          <a:xfrm>
            <a:off x="760320" y="2109600"/>
            <a:ext cx="5537880" cy="398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6 Puntos Rápidos">
    <p:bg>
      <p:bgPr shadeToTitle="0"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419546" name="Google Shape;34;p13"/>
          <p:cNvSpPr/>
          <p:nvPr/>
        </p:nvSpPr>
        <p:spPr bwMode="auto">
          <a:xfrm>
            <a:off x="3583800" y="968760"/>
            <a:ext cx="759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1" u="none" strike="noStrike">
                <a:solidFill>
                  <a:schemeClr val="lt1"/>
                </a:solidFill>
                <a:latin typeface="KoHo SemiBold"/>
                <a:ea typeface="KoHo SemiBold"/>
              </a:rPr>
              <a:t>01</a:t>
            </a:r>
            <a:endParaRPr lang="es-MX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3078668" name="Google Shape;35;p13"/>
          <p:cNvSpPr/>
          <p:nvPr/>
        </p:nvSpPr>
        <p:spPr bwMode="auto">
          <a:xfrm>
            <a:off x="6285240" y="968760"/>
            <a:ext cx="759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1" u="none" strike="noStrike">
                <a:solidFill>
                  <a:schemeClr val="lt1"/>
                </a:solidFill>
                <a:latin typeface="KoHo SemiBold"/>
                <a:ea typeface="KoHo SemiBold"/>
              </a:rPr>
              <a:t>02</a:t>
            </a:r>
            <a:endParaRPr lang="es-MX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277152" name="Google Shape;36;p13"/>
          <p:cNvSpPr/>
          <p:nvPr/>
        </p:nvSpPr>
        <p:spPr bwMode="auto">
          <a:xfrm>
            <a:off x="8996760" y="968760"/>
            <a:ext cx="759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1" u="none" strike="noStrike">
                <a:solidFill>
                  <a:schemeClr val="lt1"/>
                </a:solidFill>
                <a:latin typeface="KoHo SemiBold"/>
                <a:ea typeface="KoHo SemiBold"/>
              </a:rPr>
              <a:t>03</a:t>
            </a:r>
            <a:endParaRPr lang="es-MX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1375426" name="Google Shape;37;p13"/>
          <p:cNvSpPr/>
          <p:nvPr/>
        </p:nvSpPr>
        <p:spPr bwMode="auto">
          <a:xfrm>
            <a:off x="3583800" y="4012560"/>
            <a:ext cx="759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1" u="none" strike="noStrike">
                <a:solidFill>
                  <a:schemeClr val="lt1"/>
                </a:solidFill>
                <a:latin typeface="KoHo SemiBold"/>
                <a:ea typeface="KoHo SemiBold"/>
              </a:rPr>
              <a:t>04</a:t>
            </a:r>
            <a:endParaRPr lang="es-MX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188770" name="Google Shape;38;p13"/>
          <p:cNvSpPr/>
          <p:nvPr/>
        </p:nvSpPr>
        <p:spPr bwMode="auto">
          <a:xfrm>
            <a:off x="6285240" y="4012560"/>
            <a:ext cx="759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1" u="none" strike="noStrike">
                <a:solidFill>
                  <a:schemeClr val="lt1"/>
                </a:solidFill>
                <a:latin typeface="KoHo SemiBold"/>
                <a:ea typeface="KoHo SemiBold"/>
              </a:rPr>
              <a:t>05</a:t>
            </a:r>
            <a:endParaRPr lang="es-MX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4734604" name="Google Shape;39;p13"/>
          <p:cNvSpPr/>
          <p:nvPr/>
        </p:nvSpPr>
        <p:spPr bwMode="auto">
          <a:xfrm>
            <a:off x="8996760" y="4012560"/>
            <a:ext cx="75924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1" u="none" strike="noStrike">
                <a:solidFill>
                  <a:schemeClr val="lt1"/>
                </a:solidFill>
                <a:latin typeface="KoHo SemiBold"/>
                <a:ea typeface="KoHo SemiBold"/>
              </a:rPr>
              <a:t>06</a:t>
            </a:r>
            <a:endParaRPr lang="es-MX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1168586" name="PlaceHolder 1"/>
          <p:cNvSpPr>
            <a:spLocks noGrp="1"/>
          </p:cNvSpPr>
          <p:nvPr>
            <p:ph type="title"/>
          </p:nvPr>
        </p:nvSpPr>
        <p:spPr bwMode="auto">
          <a:xfrm>
            <a:off x="548280" y="1000440"/>
            <a:ext cx="2437200" cy="5000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3200" b="0" u="none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lang="es-MX" sz="3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51955855" name="PlaceHolder 2"/>
          <p:cNvSpPr>
            <a:spLocks noGrp="1"/>
          </p:cNvSpPr>
          <p:nvPr>
            <p:ph type="body"/>
          </p:nvPr>
        </p:nvSpPr>
        <p:spPr bwMode="auto">
          <a:xfrm>
            <a:off x="3583800" y="1662840"/>
            <a:ext cx="2169360" cy="128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990864663" name="PlaceHolder 3"/>
          <p:cNvSpPr>
            <a:spLocks noGrp="1"/>
          </p:cNvSpPr>
          <p:nvPr>
            <p:ph type="body"/>
          </p:nvPr>
        </p:nvSpPr>
        <p:spPr bwMode="auto">
          <a:xfrm>
            <a:off x="6285240" y="1662840"/>
            <a:ext cx="2169360" cy="128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10313191" name="PlaceHolder 4"/>
          <p:cNvSpPr>
            <a:spLocks noGrp="1"/>
          </p:cNvSpPr>
          <p:nvPr>
            <p:ph type="body"/>
          </p:nvPr>
        </p:nvSpPr>
        <p:spPr bwMode="auto">
          <a:xfrm>
            <a:off x="8996760" y="1662840"/>
            <a:ext cx="2169360" cy="128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17828103" name="PlaceHolder 5"/>
          <p:cNvSpPr>
            <a:spLocks noGrp="1"/>
          </p:cNvSpPr>
          <p:nvPr>
            <p:ph type="body"/>
          </p:nvPr>
        </p:nvSpPr>
        <p:spPr bwMode="auto">
          <a:xfrm>
            <a:off x="3583800" y="4714560"/>
            <a:ext cx="2169360" cy="128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277538770" name="PlaceHolder 6"/>
          <p:cNvSpPr>
            <a:spLocks noGrp="1"/>
          </p:cNvSpPr>
          <p:nvPr>
            <p:ph type="body"/>
          </p:nvPr>
        </p:nvSpPr>
        <p:spPr bwMode="auto">
          <a:xfrm>
            <a:off x="6285240" y="4714560"/>
            <a:ext cx="2169360" cy="128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935019057" name="PlaceHolder 7"/>
          <p:cNvSpPr>
            <a:spLocks noGrp="1"/>
          </p:cNvSpPr>
          <p:nvPr>
            <p:ph type="body"/>
          </p:nvPr>
        </p:nvSpPr>
        <p:spPr bwMode="auto">
          <a:xfrm>
            <a:off x="8996760" y="4714560"/>
            <a:ext cx="2169360" cy="128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2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2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4 Puntos Importantes">
    <p:bg>
      <p:bgPr shadeToTitle="0"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987732" name="Google Shape;48;p14"/>
          <p:cNvSpPr/>
          <p:nvPr/>
        </p:nvSpPr>
        <p:spPr bwMode="auto">
          <a:xfrm>
            <a:off x="5862600" y="507960"/>
            <a:ext cx="966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1" u="none" strike="noStrike">
                <a:solidFill>
                  <a:schemeClr val="lt2"/>
                </a:solidFill>
                <a:latin typeface="KoHo SemiBold"/>
                <a:ea typeface="KoHo SemiBold"/>
              </a:rPr>
              <a:t>01</a:t>
            </a:r>
            <a:endParaRPr lang="es-MX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707846" name="Google Shape;49;p14"/>
          <p:cNvSpPr/>
          <p:nvPr/>
        </p:nvSpPr>
        <p:spPr bwMode="auto">
          <a:xfrm>
            <a:off x="8905320" y="507960"/>
            <a:ext cx="966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1" u="none" strike="noStrike">
                <a:solidFill>
                  <a:schemeClr val="lt2"/>
                </a:solidFill>
                <a:latin typeface="KoHo SemiBold"/>
                <a:ea typeface="KoHo SemiBold"/>
              </a:rPr>
              <a:t>02</a:t>
            </a:r>
            <a:endParaRPr lang="es-MX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636858" name="Google Shape;50;p14"/>
          <p:cNvSpPr/>
          <p:nvPr/>
        </p:nvSpPr>
        <p:spPr bwMode="auto">
          <a:xfrm>
            <a:off x="5862600" y="3548160"/>
            <a:ext cx="966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1" u="none" strike="noStrike">
                <a:solidFill>
                  <a:schemeClr val="lt2"/>
                </a:solidFill>
                <a:latin typeface="KoHo SemiBold"/>
                <a:ea typeface="KoHo SemiBold"/>
              </a:rPr>
              <a:t>03</a:t>
            </a:r>
            <a:endParaRPr lang="es-MX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8461854" name="Google Shape;51;p14"/>
          <p:cNvSpPr/>
          <p:nvPr/>
        </p:nvSpPr>
        <p:spPr bwMode="auto">
          <a:xfrm>
            <a:off x="8905320" y="3548160"/>
            <a:ext cx="966960" cy="36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  <a:defRPr/>
            </a:pPr>
            <a:r>
              <a:rPr lang="es-ES" sz="1800" b="1" u="none" strike="noStrike">
                <a:solidFill>
                  <a:schemeClr val="lt2"/>
                </a:solidFill>
                <a:latin typeface="KoHo SemiBold"/>
                <a:ea typeface="KoHo SemiBold"/>
              </a:rPr>
              <a:t>04</a:t>
            </a:r>
            <a:endParaRPr lang="es-MX" sz="18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070088" name="PlaceHolder 1"/>
          <p:cNvSpPr>
            <a:spLocks noGrp="1"/>
          </p:cNvSpPr>
          <p:nvPr>
            <p:ph type="title"/>
          </p:nvPr>
        </p:nvSpPr>
        <p:spPr bwMode="auto">
          <a:xfrm>
            <a:off x="380160" y="507960"/>
            <a:ext cx="5001120" cy="49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2800" b="0" u="none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lang="es-MX" sz="2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08882583" name="PlaceHolder 2"/>
          <p:cNvSpPr>
            <a:spLocks noGrp="1"/>
          </p:cNvSpPr>
          <p:nvPr>
            <p:ph type="body"/>
          </p:nvPr>
        </p:nvSpPr>
        <p:spPr bwMode="auto">
          <a:xfrm>
            <a:off x="5862600" y="1092960"/>
            <a:ext cx="2543400" cy="219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451961660" name="PlaceHolder 3"/>
          <p:cNvSpPr>
            <a:spLocks noGrp="1"/>
          </p:cNvSpPr>
          <p:nvPr>
            <p:ph type="body"/>
          </p:nvPr>
        </p:nvSpPr>
        <p:spPr bwMode="auto">
          <a:xfrm>
            <a:off x="8905320" y="1092960"/>
            <a:ext cx="2543400" cy="219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735508162" name="PlaceHolder 4"/>
          <p:cNvSpPr>
            <a:spLocks noGrp="1"/>
          </p:cNvSpPr>
          <p:nvPr>
            <p:ph type="body"/>
          </p:nvPr>
        </p:nvSpPr>
        <p:spPr bwMode="auto">
          <a:xfrm>
            <a:off x="5862600" y="4110480"/>
            <a:ext cx="2543400" cy="219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551341210" name="PlaceHolder 5"/>
          <p:cNvSpPr>
            <a:spLocks noGrp="1"/>
          </p:cNvSpPr>
          <p:nvPr>
            <p:ph type="body"/>
          </p:nvPr>
        </p:nvSpPr>
        <p:spPr bwMode="auto">
          <a:xfrm>
            <a:off x="8905320" y="4110480"/>
            <a:ext cx="2543400" cy="219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316448231" name="PlaceHolder 6"/>
          <p:cNvSpPr>
            <a:spLocks noGrp="1"/>
          </p:cNvSpPr>
          <p:nvPr>
            <p:ph type="body"/>
          </p:nvPr>
        </p:nvSpPr>
        <p:spPr bwMode="auto">
          <a:xfrm>
            <a:off x="380160" y="1354320"/>
            <a:ext cx="5001120" cy="494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Cita">
    <p:bg>
      <p:bgPr shadeToTitle="0"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363207" name="PlaceHolder 1"/>
          <p:cNvSpPr>
            <a:spLocks noGrp="1"/>
          </p:cNvSpPr>
          <p:nvPr>
            <p:ph type="title"/>
          </p:nvPr>
        </p:nvSpPr>
        <p:spPr bwMode="auto">
          <a:xfrm>
            <a:off x="1899360" y="1018440"/>
            <a:ext cx="8392320" cy="3179519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5400" b="0" u="none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lang="es-MX" sz="5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11757393" name="PlaceHolder 2"/>
          <p:cNvSpPr>
            <a:spLocks noGrp="1"/>
          </p:cNvSpPr>
          <p:nvPr>
            <p:ph type="body"/>
          </p:nvPr>
        </p:nvSpPr>
        <p:spPr bwMode="auto">
          <a:xfrm>
            <a:off x="1899360" y="4625280"/>
            <a:ext cx="8392320" cy="30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8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8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650397838" name="PlaceHolder 3"/>
          <p:cNvSpPr>
            <a:spLocks noGrp="1"/>
          </p:cNvSpPr>
          <p:nvPr>
            <p:ph type="body"/>
          </p:nvPr>
        </p:nvSpPr>
        <p:spPr bwMode="auto">
          <a:xfrm>
            <a:off x="1899360" y="5106600"/>
            <a:ext cx="8392320" cy="30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Gracias">
    <p:bg>
      <p:bgPr shadeToTitle="0"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9380950" name="Google Shape;63;p16" descr=""/>
          <p:cNvPicPr/>
          <p:nvPr/>
        </p:nvPicPr>
        <p:blipFill rotWithShape="1">
          <a:blip r:embed="rId3"/>
          <a:srcRect l="14851" t="14597" r="15006" b="14691"/>
          <a:stretch/>
        </p:blipFill>
        <p:spPr bwMode="auto">
          <a:xfrm>
            <a:off x="803160" y="3380400"/>
            <a:ext cx="195480" cy="19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7801483" name="Google Shape;64;p16" descr=""/>
          <p:cNvPicPr/>
          <p:nvPr/>
        </p:nvPicPr>
        <p:blipFill rotWithShape="1">
          <a:blip r:embed="rId4"/>
          <a:stretch/>
        </p:blipFill>
        <p:spPr bwMode="auto">
          <a:xfrm>
            <a:off x="801360" y="3807000"/>
            <a:ext cx="196920" cy="196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9316655" name="Google Shape;65;p16" descr=""/>
          <p:cNvPicPr/>
          <p:nvPr/>
        </p:nvPicPr>
        <p:blipFill rotWithShape="1">
          <a:blip r:embed="rId5"/>
          <a:stretch/>
        </p:blipFill>
        <p:spPr bwMode="auto">
          <a:xfrm>
            <a:off x="765360" y="4275360"/>
            <a:ext cx="268920" cy="26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0342683" name="PlaceHolder 1"/>
          <p:cNvSpPr>
            <a:spLocks noGrp="1"/>
          </p:cNvSpPr>
          <p:nvPr>
            <p:ph type="body"/>
          </p:nvPr>
        </p:nvSpPr>
        <p:spPr bwMode="auto">
          <a:xfrm>
            <a:off x="760320" y="2538360"/>
            <a:ext cx="467856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250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840117288" name="PlaceHolder 2"/>
          <p:cNvSpPr>
            <a:spLocks noGrp="1"/>
          </p:cNvSpPr>
          <p:nvPr>
            <p:ph type="body"/>
          </p:nvPr>
        </p:nvSpPr>
        <p:spPr bwMode="auto">
          <a:xfrm>
            <a:off x="1194480" y="3292560"/>
            <a:ext cx="4244760" cy="36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250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452743336" name="PlaceHolder 3"/>
          <p:cNvSpPr>
            <a:spLocks noGrp="1"/>
          </p:cNvSpPr>
          <p:nvPr>
            <p:ph type="body"/>
          </p:nvPr>
        </p:nvSpPr>
        <p:spPr bwMode="auto">
          <a:xfrm>
            <a:off x="1194480" y="3764160"/>
            <a:ext cx="4244760" cy="36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250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1724567172" name="PlaceHolder 4"/>
          <p:cNvSpPr>
            <a:spLocks noGrp="1"/>
          </p:cNvSpPr>
          <p:nvPr>
            <p:ph type="body"/>
          </p:nvPr>
        </p:nvSpPr>
        <p:spPr bwMode="auto">
          <a:xfrm>
            <a:off x="1194480" y="4223880"/>
            <a:ext cx="4244760" cy="36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25000" lnSpcReduction="19999"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6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16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576860734" name="PlaceHolder 5"/>
          <p:cNvSpPr>
            <a:spLocks noGrp="1"/>
          </p:cNvSpPr>
          <p:nvPr>
            <p:ph type="title"/>
          </p:nvPr>
        </p:nvSpPr>
        <p:spPr bwMode="auto">
          <a:xfrm>
            <a:off x="760320" y="576000"/>
            <a:ext cx="4678560" cy="169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 fontScale="70000" lnSpcReduction="19999"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6000" b="0" u="none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lang="es-MX" sz="6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acia">
    <p:bg>
      <p:bgPr shadeToTitle="0"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531796" name="PlaceHolder 1"/>
          <p:cNvSpPr>
            <a:spLocks noGrp="1"/>
          </p:cNvSpPr>
          <p:nvPr>
            <p:ph type="title"/>
          </p:nvPr>
        </p:nvSpPr>
        <p:spPr bwMode="auto"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</p:txBody>
      </p:sp>
      <p:sp>
        <p:nvSpPr>
          <p:cNvPr id="2118411582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 defTabSz="9144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864000" lvl="1" indent="-324000" defTabSz="9144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1296000" lvl="2" indent="-288000" defTabSz="9144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1728000" lvl="3" indent="-216000" defTabSz="9144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/>
              <a:buChar char=""/>
              <a:defRPr/>
            </a:pPr>
            <a:r>
              <a:rPr lang="es-MX" sz="1400" b="0" u="none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lang="es-MX" sz="1400" b="0" u="none" strike="noStrike">
              <a:solidFill>
                <a:schemeClr val="dk1"/>
              </a:solidFill>
              <a:latin typeface="Arial"/>
            </a:endParaRPr>
          </a:p>
          <a:p>
            <a:pPr marL="2160000" lvl="4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2592000" lvl="5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  <a:p>
            <a:pPr marL="3024000" lvl="6" indent="-216000" defTabSz="9144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000" b="0" u="none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lang="es-MX" sz="2000" b="0" u="none" strike="noStrike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0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560572" name="Rectángulo 48"/>
          <p:cNvSpPr/>
          <p:nvPr/>
        </p:nvSpPr>
        <p:spPr bwMode="auto">
          <a:xfrm>
            <a:off x="1440000" y="1980000"/>
            <a:ext cx="8999280" cy="187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s-MX" sz="4000" b="0" u="none" strike="noStrike">
                <a:solidFill>
                  <a:srgbClr val="FFFFFF"/>
                </a:solidFill>
                <a:latin typeface="KoHo Medium"/>
              </a:rPr>
              <a:t>eBPF y Python: Observabilidad en Linux desde Python</a:t>
            </a:r>
            <a:endParaRPr lang="es-MX" sz="40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s-MX" sz="2000" b="0" u="none" strike="noStrike">
                <a:solidFill>
                  <a:srgbClr val="FFFFFF"/>
                </a:solidFill>
                <a:latin typeface="KoHo Medium"/>
              </a:rPr>
              <a:t>Ramón Esparza </a:t>
            </a:r>
            <a:endParaRPr lang="es-MX" sz="20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s-MX" sz="1600" b="0" u="none" strike="noStrike">
                <a:solidFill>
                  <a:srgbClr val="FFFFFF"/>
                </a:solidFill>
                <a:latin typeface="KoHo Medium"/>
              </a:rPr>
              <a:t>Staff SRE @ Wizeline</a:t>
            </a:r>
            <a:endParaRPr lang="es-MX" sz="16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64900261" name="Imagen 49" descr=""/>
          <p:cNvPicPr/>
          <p:nvPr/>
        </p:nvPicPr>
        <p:blipFill rotWithShape="1">
          <a:blip r:embed="rId3"/>
          <a:stretch/>
        </p:blipFill>
        <p:spPr bwMode="auto">
          <a:xfrm>
            <a:off x="601200" y="1620000"/>
            <a:ext cx="2638080" cy="372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3308357" name="Rectángulo 50"/>
          <p:cNvSpPr/>
          <p:nvPr/>
        </p:nvSpPr>
        <p:spPr bwMode="auto">
          <a:xfrm>
            <a:off x="3960000" y="2196360"/>
            <a:ext cx="4859280" cy="24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s-MX" sz="2800" b="1" u="none" strike="noStrike">
                <a:solidFill>
                  <a:srgbClr val="FFFFFF"/>
                </a:solidFill>
                <a:latin typeface="Century Gothic"/>
              </a:rPr>
              <a:t>Ramón Esparza</a:t>
            </a:r>
            <a:endParaRPr lang="es-MX" sz="2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s-MX" sz="2800" b="0" u="none" strike="noStrike">
                <a:solidFill>
                  <a:srgbClr val="FFFFFF"/>
                </a:solidFill>
                <a:latin typeface="Century Gothic"/>
              </a:rPr>
              <a:t>Staff SRE/DevOps</a:t>
            </a:r>
            <a:endParaRPr lang="es-MX" sz="28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s-MX" sz="2800" b="0" u="none" strike="noStrike">
                <a:solidFill>
                  <a:srgbClr val="FFFFFF"/>
                </a:solidFill>
                <a:latin typeface="Century Gothic"/>
              </a:rPr>
              <a:t>@ Wizeline</a:t>
            </a:r>
            <a:endParaRPr lang="es-MX" sz="28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100" b="0" u="none" strike="noStrike">
                <a:solidFill>
                  <a:srgbClr val="FFFFFF"/>
                </a:solidFill>
                <a:latin typeface="Century Gothic"/>
              </a:rPr>
              <a:t>blog.ramonesparza.net</a:t>
            </a: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100" b="0" u="none" strike="noStrike">
                <a:solidFill>
                  <a:srgbClr val="FFFFFF"/>
                </a:solidFill>
                <a:latin typeface="Century Gothic"/>
              </a:rPr>
              <a:t>linkedin.com/in/ramonesparza</a:t>
            </a: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8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3866107" name="Rectángulo 51"/>
          <p:cNvSpPr/>
          <p:nvPr/>
        </p:nvSpPr>
        <p:spPr bwMode="auto">
          <a:xfrm>
            <a:off x="1044000" y="900000"/>
            <a:ext cx="8861399" cy="59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s-MX" sz="3600" b="1" u="none" strike="noStrike">
                <a:solidFill>
                  <a:srgbClr val="FFFFFF"/>
                </a:solidFill>
                <a:latin typeface="Century Gothic"/>
              </a:rPr>
              <a:t>Índice </a:t>
            </a: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2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3200" b="0" u="none" strike="noStrike">
                <a:solidFill>
                  <a:srgbClr val="FFFFFF"/>
                </a:solidFill>
                <a:latin typeface="Century Gothic"/>
              </a:rPr>
              <a:t>Problema</a:t>
            </a:r>
            <a:endParaRPr lang="es-MX" sz="32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3200" b="0" u="none" strike="noStrike">
                <a:solidFill>
                  <a:srgbClr val="FFFFFF"/>
                </a:solidFill>
                <a:latin typeface="Century Gothic"/>
              </a:rPr>
              <a:t>¿Cómo lo solucionamos? ¿Qué es eBPF?</a:t>
            </a:r>
            <a:endParaRPr lang="es-MX" sz="32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3200" b="0" u="none" strike="noStrike">
                <a:solidFill>
                  <a:srgbClr val="FFFFFF"/>
                </a:solidFill>
                <a:latin typeface="Century Gothic"/>
              </a:rPr>
              <a:t>¿Cómo funciona eBPF? </a:t>
            </a:r>
            <a:endParaRPr lang="es-MX" sz="32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3200" b="0" u="none" strike="noStrike">
                <a:solidFill>
                  <a:srgbClr val="FFFFFF"/>
                </a:solidFill>
                <a:latin typeface="Century Gothic"/>
              </a:rPr>
              <a:t>Demo</a:t>
            </a:r>
            <a:endParaRPr lang="es-MX" sz="3200" b="0" u="none" strike="noStrike">
              <a:solidFill>
                <a:srgbClr val="FFFFFF"/>
              </a:solidFill>
              <a:latin typeface="Century Gothic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endParaRPr lang="es-MX" sz="32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ES" sz="3200" b="0" u="none" strike="noStrike">
                <a:solidFill>
                  <a:srgbClr val="FFFFFF"/>
                </a:solidFill>
                <a:latin typeface="Century Gothic"/>
              </a:rPr>
              <a:t>Donde usarlo</a:t>
            </a:r>
            <a:endParaRPr lang="es-MX" sz="32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3200" b="0" u="none" strike="noStrike">
                <a:solidFill>
                  <a:srgbClr val="FFFFFF"/>
                </a:solidFill>
                <a:latin typeface="Century Gothic"/>
              </a:rPr>
              <a:t>Puntos clave</a:t>
            </a:r>
            <a:endParaRPr lang="es-MX" sz="32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044296" name="Rectángulo 52"/>
          <p:cNvSpPr/>
          <p:nvPr/>
        </p:nvSpPr>
        <p:spPr bwMode="auto">
          <a:xfrm>
            <a:off x="1080000" y="720000"/>
            <a:ext cx="8999640" cy="538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s-MX" sz="2800" b="1" u="none" strike="noStrike">
                <a:solidFill>
                  <a:srgbClr val="FFFFFF"/>
                </a:solidFill>
                <a:latin typeface="Century Gothic"/>
              </a:rPr>
              <a:t>El kernel lo ve todo:</a:t>
            </a:r>
            <a:endParaRPr lang="es-MX" sz="28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400" b="0" u="none" strike="noStrike">
                <a:solidFill>
                  <a:srgbClr val="FFFFFF"/>
                </a:solidFill>
                <a:latin typeface="Century Gothic"/>
              </a:rPr>
              <a:t>Red</a:t>
            </a: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400" b="0" u="none" strike="noStrike">
                <a:solidFill>
                  <a:srgbClr val="FFFFFF"/>
                </a:solidFill>
                <a:latin typeface="Century Gothic"/>
              </a:rPr>
              <a:t>Disco </a:t>
            </a: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400" b="0" u="none" strike="noStrike">
                <a:solidFill>
                  <a:srgbClr val="FFFFFF"/>
                </a:solidFill>
                <a:latin typeface="Century Gothic"/>
              </a:rPr>
              <a:t>Procesos</a:t>
            </a: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algn="just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400" b="0" u="none" strike="noStrike">
                <a:solidFill>
                  <a:srgbClr val="FFFFFF"/>
                </a:solidFill>
                <a:latin typeface="Century Gothic"/>
              </a:rPr>
              <a:t>SysCalls</a:t>
            </a: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r>
              <a:rPr lang="es-MX" sz="2800" b="1" u="none" strike="noStrike">
                <a:solidFill>
                  <a:srgbClr val="FFFFFF"/>
                </a:solidFill>
                <a:latin typeface="Century Gothic"/>
              </a:rPr>
              <a:t>Observar qué está haciendo el kernel significa: </a:t>
            </a:r>
            <a:endParaRPr lang="es-MX" sz="28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400" b="0" u="none" strike="noStrike">
                <a:solidFill>
                  <a:srgbClr val="FFFFFF"/>
                </a:solidFill>
                <a:latin typeface="Century Gothic"/>
              </a:rPr>
              <a:t>Usar herramientas que funcionan en user space</a:t>
            </a: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400" b="0" u="none" strike="noStrike">
                <a:solidFill>
                  <a:srgbClr val="FFFFFF"/>
                </a:solidFill>
                <a:latin typeface="Century Gothic"/>
              </a:rPr>
              <a:t>Escribir un modulo de Kernel</a:t>
            </a: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400" b="0" u="none" strike="noStrike">
                <a:solidFill>
                  <a:srgbClr val="FFFFFF"/>
                </a:solidFill>
                <a:latin typeface="Century Gothic"/>
              </a:rPr>
              <a:t>Hacer un parche y recompilar el Kernel</a:t>
            </a: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74278" name="Rectángulo 53"/>
          <p:cNvSpPr/>
          <p:nvPr/>
        </p:nvSpPr>
        <p:spPr bwMode="auto">
          <a:xfrm>
            <a:off x="1080000" y="720000"/>
            <a:ext cx="6299280" cy="29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s-MX" sz="3600" b="1" u="none" strike="noStrike">
                <a:solidFill>
                  <a:srgbClr val="FFFFFF"/>
                </a:solidFill>
                <a:latin typeface="KoHo"/>
              </a:rPr>
              <a:t>¿Qué queremos? </a:t>
            </a: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2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2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75745706" name="Imagen 54" descr=""/>
          <p:cNvPicPr/>
          <p:nvPr/>
        </p:nvPicPr>
        <p:blipFill rotWithShape="1">
          <a:blip r:embed="rId3"/>
          <a:srcRect l="0" t="0" r="4" b="16941"/>
          <a:stretch/>
        </p:blipFill>
        <p:spPr bwMode="auto">
          <a:xfrm>
            <a:off x="1980360" y="1980000"/>
            <a:ext cx="7019280" cy="4319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011216" name="Rectángulo 55"/>
          <p:cNvSpPr/>
          <p:nvPr/>
        </p:nvSpPr>
        <p:spPr bwMode="auto">
          <a:xfrm>
            <a:off x="1080000" y="720000"/>
            <a:ext cx="6299280" cy="711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s-MX" sz="3600" b="1" u="none" strike="noStrike">
                <a:solidFill>
                  <a:srgbClr val="FFFFFF"/>
                </a:solidFill>
                <a:latin typeface="KoHo"/>
              </a:rPr>
              <a:t>¿Qué es eBPF? </a:t>
            </a: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r>
              <a:rPr lang="es-MX" sz="2100" b="0" u="none" strike="noStrike">
                <a:solidFill>
                  <a:srgbClr val="FFFFFF"/>
                </a:solidFill>
                <a:latin typeface="Century Gothic"/>
              </a:rPr>
              <a:t>¡eBPF es una tecnología asombrosa! Nos permite interactuar con el Kernel de Linux desde el </a:t>
            </a:r>
            <a:r>
              <a:rPr lang="es-MX" sz="2100" b="0" u="sng" strike="noStrike">
                <a:solidFill>
                  <a:srgbClr val="FFFFFF"/>
                </a:solidFill>
                <a:latin typeface="Century Gothic"/>
              </a:rPr>
              <a:t>user</a:t>
            </a:r>
            <a:r>
              <a:rPr lang="es-MX" sz="2100" b="0" u="none" strike="noStrike">
                <a:solidFill>
                  <a:srgbClr val="FFFFFF"/>
                </a:solidFill>
                <a:latin typeface="Century Gothic"/>
              </a:rPr>
              <a:t> space.</a:t>
            </a: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r>
              <a:rPr lang="es-MX" sz="2100" b="0" u="none" strike="noStrike">
                <a:solidFill>
                  <a:srgbClr val="FFFFFF"/>
                </a:solidFill>
                <a:latin typeface="Century Gothic"/>
              </a:rPr>
              <a:t>¿Cómo lo hace? Ejecuta programas pequeños </a:t>
            </a:r>
            <a:r>
              <a:rPr lang="es-MX" sz="2100" b="1" u="none" strike="noStrike">
                <a:solidFill>
                  <a:srgbClr val="FFFFFF"/>
                </a:solidFill>
                <a:latin typeface="Century Gothic"/>
              </a:rPr>
              <a:t>dentro del kernel</a:t>
            </a: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200" b="0" u="none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102852048" name="Grupo 56"/>
          <p:cNvGrpSpPr/>
          <p:nvPr/>
        </p:nvGrpSpPr>
        <p:grpSpPr bwMode="auto">
          <a:xfrm>
            <a:off x="4500360" y="2967120"/>
            <a:ext cx="3958920" cy="2072160"/>
            <a:chOff x="4500360" y="2967120"/>
            <a:chExt cx="3958920" cy="2072160"/>
          </a:xfrm>
        </p:grpSpPr>
        <p:pic>
          <p:nvPicPr>
            <p:cNvPr id="58" name="Imagen 57" descr=""/>
            <p:cNvPicPr/>
            <p:nvPr/>
          </p:nvPicPr>
          <p:blipFill rotWithShape="1">
            <a:blip r:embed="rId3"/>
            <a:stretch/>
          </p:blipFill>
          <p:spPr bwMode="auto">
            <a:xfrm>
              <a:off x="5488200" y="3143519"/>
              <a:ext cx="2971080" cy="1782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9" name="Imagen 58" descr=""/>
            <p:cNvPicPr/>
            <p:nvPr/>
          </p:nvPicPr>
          <p:blipFill rotWithShape="1">
            <a:blip r:embed="rId4"/>
            <a:stretch/>
          </p:blipFill>
          <p:spPr bwMode="auto">
            <a:xfrm>
              <a:off x="4500360" y="2967120"/>
              <a:ext cx="1761840" cy="207216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232882" name="Rectángulo 59"/>
          <p:cNvSpPr/>
          <p:nvPr/>
        </p:nvSpPr>
        <p:spPr bwMode="auto">
          <a:xfrm>
            <a:off x="1080000" y="720000"/>
            <a:ext cx="6299280" cy="327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s-MX" sz="3600" b="1" u="none" strike="noStrike">
                <a:solidFill>
                  <a:srgbClr val="FFFFFF"/>
                </a:solidFill>
                <a:latin typeface="KoHo"/>
              </a:rPr>
              <a:t>¿Cómo funciona eBPF? </a:t>
            </a: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algn="just"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2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51115350" name="Imagen 60" descr=""/>
          <p:cNvPicPr/>
          <p:nvPr/>
        </p:nvPicPr>
        <p:blipFill rotWithShape="1">
          <a:blip r:embed="rId3"/>
          <a:stretch/>
        </p:blipFill>
        <p:spPr bwMode="auto">
          <a:xfrm>
            <a:off x="720000" y="1080000"/>
            <a:ext cx="8999640" cy="58831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252790" name="Rectángulo 61"/>
          <p:cNvSpPr/>
          <p:nvPr/>
        </p:nvSpPr>
        <p:spPr bwMode="auto">
          <a:xfrm>
            <a:off x="1080000" y="720000"/>
            <a:ext cx="10439640" cy="28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s-MX" sz="3600" b="1" u="none" strike="noStrike">
                <a:solidFill>
                  <a:srgbClr val="FFFFFF"/>
                </a:solidFill>
                <a:latin typeface="KoHo"/>
              </a:rPr>
              <a:t>¿Cómo funciona eBPF? </a:t>
            </a: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arenR"/>
              <a:defRPr/>
            </a:pPr>
            <a:r>
              <a:rPr lang="es-MX" sz="2400" b="1" u="none" strike="noStrike">
                <a:solidFill>
                  <a:srgbClr val="FFFFFF"/>
                </a:solidFill>
                <a:latin typeface="Century Gothic"/>
              </a:rPr>
              <a:t>eBPF Verifier: ¿Es seguro nuestro programa?</a:t>
            </a:r>
            <a:r>
              <a:rPr lang="es-MX" sz="2400" b="0" u="none" strike="noStrike">
                <a:solidFill>
                  <a:srgbClr val="FFFFFF"/>
                </a:solidFill>
                <a:latin typeface="Century Gothic"/>
              </a:rPr>
              <a:t> </a:t>
            </a: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5489638" name="Forma libre: forma 62"/>
          <p:cNvSpPr/>
          <p:nvPr/>
        </p:nvSpPr>
        <p:spPr bwMode="auto">
          <a:xfrm>
            <a:off x="360000" y="2520000"/>
            <a:ext cx="3251519" cy="3419640"/>
          </a:xfrm>
          <a:custGeom>
            <a:avLst/>
            <a:gdLst>
              <a:gd name="textAreaLeft" fmla="*/ 158760 w 3251520"/>
              <a:gd name="textAreaRight" fmla="*/ 3093120 w 3251520"/>
              <a:gd name="textAreaTop" fmla="*/ 158760 h 3419640"/>
              <a:gd name="textAreaBottom" fmla="*/ 3261240 h 3419640"/>
            </a:gdLst>
            <a:ahLst/>
            <a:cxnLst/>
            <a:rect l="textAreaLeft" t="textAreaTop" r="textAreaRight" b="textAreaBottom"/>
            <a:pathLst>
              <a:path w="21600" h="22717" fill="norm" stroke="1" extrusionOk="0">
                <a:moveTo>
                  <a:pt x="3600" y="0"/>
                </a:moveTo>
                <a:arcTo wR="3600" hR="3600" stAng="16200000" swAng="-5400000"/>
                <a:lnTo>
                  <a:pt x="0" y="19117"/>
                </a:lnTo>
                <a:arcTo wR="3600" hR="3600" stAng="10800000" swAng="-5400000"/>
                <a:lnTo>
                  <a:pt x="18000" y="22717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600" b="0" u="none" strike="noStrike">
                <a:solidFill>
                  <a:srgbClr val="FFFFFF"/>
                </a:solidFill>
                <a:latin typeface="Century Gothic"/>
              </a:rPr>
              <a:t>Cada programa es analizado antes de ejecución.</a:t>
            </a:r>
            <a:endParaRPr lang="es-MX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2501091" name="Forma libre: forma 63"/>
          <p:cNvSpPr/>
          <p:nvPr/>
        </p:nvSpPr>
        <p:spPr bwMode="auto">
          <a:xfrm>
            <a:off x="7188120" y="2520000"/>
            <a:ext cx="3251519" cy="3419640"/>
          </a:xfrm>
          <a:custGeom>
            <a:avLst/>
            <a:gdLst>
              <a:gd name="textAreaLeft" fmla="*/ 158760 w 3251520"/>
              <a:gd name="textAreaRight" fmla="*/ 3093120 w 3251520"/>
              <a:gd name="textAreaTop" fmla="*/ 158760 h 3419640"/>
              <a:gd name="textAreaBottom" fmla="*/ 3261240 h 3419640"/>
            </a:gdLst>
            <a:ahLst/>
            <a:cxnLst/>
            <a:rect l="textAreaLeft" t="textAreaTop" r="textAreaRight" b="textAreaBottom"/>
            <a:pathLst>
              <a:path w="21600" h="22717" fill="norm" stroke="1" extrusionOk="0">
                <a:moveTo>
                  <a:pt x="3600" y="0"/>
                </a:moveTo>
                <a:arcTo wR="3600" hR="3600" stAng="16200000" swAng="-5400000"/>
                <a:lnTo>
                  <a:pt x="0" y="19117"/>
                </a:lnTo>
                <a:arcTo wR="3600" hR="3600" stAng="10800000" swAng="-5400000"/>
                <a:lnTo>
                  <a:pt x="18000" y="22717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600" b="0" u="none" strike="noStrike">
                <a:solidFill>
                  <a:srgbClr val="FFFFFF"/>
                </a:solidFill>
                <a:latin typeface="Century Gothic"/>
                <a:ea typeface="Century Gothic"/>
              </a:rPr>
              <a:t>Protege el kernel: Un programa de eBPF no puede comprometer el kernel</a:t>
            </a:r>
            <a:endParaRPr lang="es-MX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7337371" name="Forma libre: forma 64"/>
          <p:cNvSpPr/>
          <p:nvPr/>
        </p:nvSpPr>
        <p:spPr bwMode="auto">
          <a:xfrm>
            <a:off x="3774240" y="2520000"/>
            <a:ext cx="3251160" cy="3419640"/>
          </a:xfrm>
          <a:custGeom>
            <a:avLst/>
            <a:gdLst>
              <a:gd name="textAreaLeft" fmla="*/ 158400 w 3251160"/>
              <a:gd name="textAreaRight" fmla="*/ 3093120 w 3251160"/>
              <a:gd name="textAreaTop" fmla="*/ 158400 h 3419640"/>
              <a:gd name="textAreaBottom" fmla="*/ 3261600 h 3419640"/>
            </a:gdLst>
            <a:ahLst/>
            <a:cxnLst/>
            <a:rect l="textAreaLeft" t="textAreaTop" r="textAreaRight" b="textAreaBottom"/>
            <a:pathLst>
              <a:path w="21600" h="22719" fill="norm" stroke="1" extrusionOk="0">
                <a:moveTo>
                  <a:pt x="3600" y="0"/>
                </a:moveTo>
                <a:arcTo wR="3600" hR="3600" stAng="16200000" swAng="-5400000"/>
                <a:lnTo>
                  <a:pt x="0" y="19119"/>
                </a:lnTo>
                <a:arcTo wR="3600" hR="3600" stAng="10800000" swAng="-5400000"/>
                <a:lnTo>
                  <a:pt x="18000" y="22719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600" b="0" u="none" strike="noStrike">
                <a:solidFill>
                  <a:srgbClr val="FFFFFF"/>
                </a:solidFill>
                <a:latin typeface="Century Gothic"/>
              </a:rPr>
              <a:t>Evita procedimientos peligrosos: </a:t>
            </a:r>
            <a:br>
              <a:rPr sz="2600"/>
            </a:br>
            <a:r>
              <a:rPr lang="es-MX" sz="2600" b="0" u="none" strike="noStrike">
                <a:solidFill>
                  <a:srgbClr val="FFFFFF"/>
                </a:solidFill>
                <a:latin typeface="Century Gothic"/>
              </a:rPr>
              <a:t>ciclos infinitos o accesos inválidos en memoria</a:t>
            </a:r>
            <a:endParaRPr lang="es-MX" sz="26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9067889" name="Rectángulo 65"/>
          <p:cNvSpPr/>
          <p:nvPr/>
        </p:nvSpPr>
        <p:spPr bwMode="auto">
          <a:xfrm>
            <a:off x="1080000" y="720000"/>
            <a:ext cx="10439640" cy="28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s-MX" sz="3600" b="1" u="none" strike="noStrike">
                <a:solidFill>
                  <a:srgbClr val="FFFFFF"/>
                </a:solidFill>
                <a:latin typeface="KoHo"/>
              </a:rPr>
              <a:t>¿Cómo funciona eBPF? </a:t>
            </a: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arenR"/>
              <a:defRPr/>
            </a:pPr>
            <a:r>
              <a:rPr lang="es-MX" sz="2600" b="1" u="none" strike="noStrike">
                <a:solidFill>
                  <a:srgbClr val="FFFFFF"/>
                </a:solidFill>
                <a:latin typeface="Century Gothic"/>
              </a:rPr>
              <a:t>eBPF JIT Compiler: ¿Cómo se ejecuta nuestro programa?</a:t>
            </a:r>
            <a:r>
              <a:rPr lang="es-MX" sz="2600" b="0" u="none" strike="noStrike">
                <a:solidFill>
                  <a:srgbClr val="FFFFFF"/>
                </a:solidFill>
                <a:latin typeface="Century Gothic"/>
              </a:rPr>
              <a:t>  </a:t>
            </a:r>
            <a:endParaRPr lang="es-MX" sz="2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063477" name="Forma libre: forma 66"/>
          <p:cNvSpPr/>
          <p:nvPr/>
        </p:nvSpPr>
        <p:spPr bwMode="auto">
          <a:xfrm>
            <a:off x="360000" y="2520000"/>
            <a:ext cx="3251519" cy="3419640"/>
          </a:xfrm>
          <a:custGeom>
            <a:avLst/>
            <a:gdLst>
              <a:gd name="textAreaLeft" fmla="*/ 158760 w 3251520"/>
              <a:gd name="textAreaRight" fmla="*/ 3093120 w 3251520"/>
              <a:gd name="textAreaTop" fmla="*/ 158760 h 3419640"/>
              <a:gd name="textAreaBottom" fmla="*/ 3261240 h 3419640"/>
            </a:gdLst>
            <a:ahLst/>
            <a:cxnLst/>
            <a:rect l="textAreaLeft" t="textAreaTop" r="textAreaRight" b="textAreaBottom"/>
            <a:pathLst>
              <a:path w="21600" h="22717" fill="norm" stroke="1" extrusionOk="0">
                <a:moveTo>
                  <a:pt x="3600" y="0"/>
                </a:moveTo>
                <a:arcTo wR="3600" hR="3600" stAng="16200000" swAng="-5400000"/>
                <a:lnTo>
                  <a:pt x="0" y="19117"/>
                </a:lnTo>
                <a:arcTo wR="3600" hR="3600" stAng="10800000" swAng="-5400000"/>
                <a:lnTo>
                  <a:pt x="18000" y="22717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600" b="0" u="none" strike="noStrike">
                <a:solidFill>
                  <a:srgbClr val="FFFFFF"/>
                </a:solidFill>
                <a:latin typeface="Century Gothic"/>
              </a:rPr>
              <a:t>Convierte eBPF a instrucciones nativas</a:t>
            </a:r>
            <a:endParaRPr lang="es-MX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0474530" name="Forma libre: forma 67"/>
          <p:cNvSpPr/>
          <p:nvPr/>
        </p:nvSpPr>
        <p:spPr bwMode="auto">
          <a:xfrm>
            <a:off x="7188120" y="2520000"/>
            <a:ext cx="3251519" cy="3419640"/>
          </a:xfrm>
          <a:custGeom>
            <a:avLst/>
            <a:gdLst>
              <a:gd name="textAreaLeft" fmla="*/ 158760 w 3251520"/>
              <a:gd name="textAreaRight" fmla="*/ 3093120 w 3251520"/>
              <a:gd name="textAreaTop" fmla="*/ 158760 h 3419640"/>
              <a:gd name="textAreaBottom" fmla="*/ 3261240 h 3419640"/>
            </a:gdLst>
            <a:ahLst/>
            <a:cxnLst/>
            <a:rect l="textAreaLeft" t="textAreaTop" r="textAreaRight" b="textAreaBottom"/>
            <a:pathLst>
              <a:path w="21600" h="22717" fill="norm" stroke="1" extrusionOk="0">
                <a:moveTo>
                  <a:pt x="3600" y="0"/>
                </a:moveTo>
                <a:arcTo wR="3600" hR="3600" stAng="16200000" swAng="-5400000"/>
                <a:lnTo>
                  <a:pt x="0" y="19117"/>
                </a:lnTo>
                <a:arcTo wR="3600" hR="3600" stAng="10800000" swAng="-5400000"/>
                <a:lnTo>
                  <a:pt x="18000" y="22717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600" b="0" u="none" strike="noStrike">
                <a:solidFill>
                  <a:srgbClr val="FFFFFF"/>
                </a:solidFill>
                <a:latin typeface="Century Gothic"/>
                <a:ea typeface="Century Gothic"/>
              </a:rPr>
              <a:t>Mejora el rendimiento</a:t>
            </a:r>
            <a:endParaRPr lang="es-MX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1847082" name="Forma libre: forma 68"/>
          <p:cNvSpPr/>
          <p:nvPr/>
        </p:nvSpPr>
        <p:spPr bwMode="auto">
          <a:xfrm>
            <a:off x="3774240" y="2520000"/>
            <a:ext cx="3251160" cy="3419640"/>
          </a:xfrm>
          <a:custGeom>
            <a:avLst/>
            <a:gdLst>
              <a:gd name="textAreaLeft" fmla="*/ 158400 w 3251160"/>
              <a:gd name="textAreaRight" fmla="*/ 3093120 w 3251160"/>
              <a:gd name="textAreaTop" fmla="*/ 158400 h 3419640"/>
              <a:gd name="textAreaBottom" fmla="*/ 3261600 h 3419640"/>
            </a:gdLst>
            <a:ahLst/>
            <a:cxnLst/>
            <a:rect l="textAreaLeft" t="textAreaTop" r="textAreaRight" b="textAreaBottom"/>
            <a:pathLst>
              <a:path w="21600" h="22719" fill="norm" stroke="1" extrusionOk="0">
                <a:moveTo>
                  <a:pt x="3600" y="0"/>
                </a:moveTo>
                <a:arcTo wR="3600" hR="3600" stAng="16200000" swAng="-5400000"/>
                <a:lnTo>
                  <a:pt x="0" y="19119"/>
                </a:lnTo>
                <a:arcTo wR="3600" hR="3600" stAng="10800000" swAng="-5400000"/>
                <a:lnTo>
                  <a:pt x="18000" y="22719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600" b="0" u="none" strike="noStrike">
                <a:solidFill>
                  <a:srgbClr val="FFFFFF"/>
                </a:solidFill>
                <a:latin typeface="Century Gothic"/>
              </a:rPr>
              <a:t>Se ejecuta dentro del kernel</a:t>
            </a:r>
            <a:endParaRPr lang="es-MX" sz="26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949437" name="Rectángulo 69"/>
          <p:cNvSpPr/>
          <p:nvPr/>
        </p:nvSpPr>
        <p:spPr bwMode="auto">
          <a:xfrm>
            <a:off x="1080000" y="720000"/>
            <a:ext cx="10439640" cy="28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s-MX" sz="3600" b="1" u="none" strike="noStrike">
                <a:solidFill>
                  <a:srgbClr val="FFFFFF"/>
                </a:solidFill>
                <a:latin typeface="KoHo"/>
              </a:rPr>
              <a:t>¿Cómo funciona eBPF? </a:t>
            </a: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arenR"/>
              <a:defRPr/>
            </a:pPr>
            <a:r>
              <a:rPr lang="es-MX" sz="2600" b="1" u="none" strike="noStrike">
                <a:solidFill>
                  <a:srgbClr val="FFFFFF"/>
                </a:solidFill>
                <a:latin typeface="Century Gothic"/>
              </a:rPr>
              <a:t>eBPF Hooks: ¿Cuándo se ejecuta? </a:t>
            </a:r>
            <a:endParaRPr lang="es-MX" sz="2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1271572" name="Forma libre: forma 70"/>
          <p:cNvSpPr/>
          <p:nvPr/>
        </p:nvSpPr>
        <p:spPr bwMode="auto">
          <a:xfrm>
            <a:off x="360000" y="2520000"/>
            <a:ext cx="3251519" cy="3419640"/>
          </a:xfrm>
          <a:custGeom>
            <a:avLst/>
            <a:gdLst>
              <a:gd name="textAreaLeft" fmla="*/ 158760 w 3251520"/>
              <a:gd name="textAreaRight" fmla="*/ 3093120 w 3251520"/>
              <a:gd name="textAreaTop" fmla="*/ 158760 h 3419640"/>
              <a:gd name="textAreaBottom" fmla="*/ 3261240 h 3419640"/>
            </a:gdLst>
            <a:ahLst/>
            <a:cxnLst/>
            <a:rect l="textAreaLeft" t="textAreaTop" r="textAreaRight" b="textAreaBottom"/>
            <a:pathLst>
              <a:path w="21600" h="22717" fill="norm" stroke="1" extrusionOk="0">
                <a:moveTo>
                  <a:pt x="3600" y="0"/>
                </a:moveTo>
                <a:arcTo wR="3600" hR="3600" stAng="16200000" swAng="-5400000"/>
                <a:lnTo>
                  <a:pt x="0" y="19117"/>
                </a:lnTo>
                <a:arcTo wR="3600" hR="3600" stAng="10800000" swAng="-5400000"/>
                <a:lnTo>
                  <a:pt x="18000" y="22717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600" b="0" u="none" strike="noStrike">
                <a:solidFill>
                  <a:srgbClr val="FFFFFF"/>
                </a:solidFill>
                <a:latin typeface="Century Gothic"/>
              </a:rPr>
              <a:t>Determinan qué evento dispara nuestro programa eBPF</a:t>
            </a:r>
            <a:endParaRPr lang="es-MX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8058944" name="Forma libre: forma 71"/>
          <p:cNvSpPr/>
          <p:nvPr/>
        </p:nvSpPr>
        <p:spPr bwMode="auto">
          <a:xfrm>
            <a:off x="7188120" y="2520000"/>
            <a:ext cx="3251519" cy="3419640"/>
          </a:xfrm>
          <a:custGeom>
            <a:avLst/>
            <a:gdLst>
              <a:gd name="textAreaLeft" fmla="*/ 158760 w 3251520"/>
              <a:gd name="textAreaRight" fmla="*/ 3093120 w 3251520"/>
              <a:gd name="textAreaTop" fmla="*/ 158760 h 3419640"/>
              <a:gd name="textAreaBottom" fmla="*/ 3261240 h 3419640"/>
            </a:gdLst>
            <a:ahLst/>
            <a:cxnLst/>
            <a:rect l="textAreaLeft" t="textAreaTop" r="textAreaRight" b="textAreaBottom"/>
            <a:pathLst>
              <a:path w="21600" h="22717" fill="norm" stroke="1" extrusionOk="0">
                <a:moveTo>
                  <a:pt x="3600" y="0"/>
                </a:moveTo>
                <a:arcTo wR="3600" hR="3600" stAng="16200000" swAng="-5400000"/>
                <a:lnTo>
                  <a:pt x="0" y="19117"/>
                </a:lnTo>
                <a:arcTo wR="3600" hR="3600" stAng="10800000" swAng="-5400000"/>
                <a:lnTo>
                  <a:pt x="18000" y="22717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600" b="0" u="none" strike="noStrike">
                <a:solidFill>
                  <a:srgbClr val="FFFFFF"/>
                </a:solidFill>
                <a:latin typeface="Century Gothic"/>
                <a:ea typeface="Century Gothic"/>
              </a:rPr>
              <a:t>Ejemplos: kprobe, uprobe, tracepoint</a:t>
            </a:r>
            <a:endParaRPr lang="es-MX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2835230" name="Forma libre: forma 72"/>
          <p:cNvSpPr/>
          <p:nvPr/>
        </p:nvSpPr>
        <p:spPr bwMode="auto">
          <a:xfrm>
            <a:off x="3774240" y="2520000"/>
            <a:ext cx="3251160" cy="3419640"/>
          </a:xfrm>
          <a:custGeom>
            <a:avLst/>
            <a:gdLst>
              <a:gd name="textAreaLeft" fmla="*/ 158400 w 3251160"/>
              <a:gd name="textAreaRight" fmla="*/ 3093120 w 3251160"/>
              <a:gd name="textAreaTop" fmla="*/ 158400 h 3419640"/>
              <a:gd name="textAreaBottom" fmla="*/ 3261600 h 3419640"/>
            </a:gdLst>
            <a:ahLst/>
            <a:cxnLst/>
            <a:rect l="textAreaLeft" t="textAreaTop" r="textAreaRight" b="textAreaBottom"/>
            <a:pathLst>
              <a:path w="21600" h="22719" fill="norm" stroke="1" extrusionOk="0">
                <a:moveTo>
                  <a:pt x="3600" y="0"/>
                </a:moveTo>
                <a:arcTo wR="3600" hR="3600" stAng="16200000" swAng="-5400000"/>
                <a:lnTo>
                  <a:pt x="0" y="19119"/>
                </a:lnTo>
                <a:arcTo wR="3600" hR="3600" stAng="10800000" swAng="-5400000"/>
                <a:lnTo>
                  <a:pt x="18000" y="22719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600" b="0" u="none" strike="noStrike">
                <a:solidFill>
                  <a:srgbClr val="FFFFFF"/>
                </a:solidFill>
                <a:latin typeface="Century Gothic"/>
              </a:rPr>
              <a:t>Podemos engancharlo a diferentes partes del sistema</a:t>
            </a:r>
            <a:endParaRPr lang="es-MX" sz="26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9624442" name="Rectángulo 73"/>
          <p:cNvSpPr/>
          <p:nvPr/>
        </p:nvSpPr>
        <p:spPr bwMode="auto">
          <a:xfrm>
            <a:off x="1080000" y="720000"/>
            <a:ext cx="10439640" cy="28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s-MX" sz="3600" b="1" u="none" strike="noStrike">
                <a:solidFill>
                  <a:srgbClr val="FFFFFF"/>
                </a:solidFill>
                <a:latin typeface="KoHo"/>
              </a:rPr>
              <a:t>¿Como funciona eBPF? </a:t>
            </a: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Font typeface="OpenSymbol"/>
              <a:buAutoNum type="arabicParenR"/>
              <a:defRPr/>
            </a:pPr>
            <a:r>
              <a:rPr lang="es-MX" sz="2600" b="1" u="none" strike="noStrike">
                <a:solidFill>
                  <a:srgbClr val="FFFFFF"/>
                </a:solidFill>
                <a:latin typeface="Century Gothic"/>
              </a:rPr>
              <a:t>eBPF Maps: ¿Cómo compartimos los datos? </a:t>
            </a:r>
            <a:endParaRPr lang="es-MX" sz="2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1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2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defRPr/>
            </a:pPr>
            <a:endParaRPr lang="es-MX" sz="3200" b="0" u="none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381563" name="Forma libre: forma 74"/>
          <p:cNvSpPr/>
          <p:nvPr/>
        </p:nvSpPr>
        <p:spPr bwMode="auto">
          <a:xfrm>
            <a:off x="360000" y="2520000"/>
            <a:ext cx="3251519" cy="3419640"/>
          </a:xfrm>
          <a:custGeom>
            <a:avLst/>
            <a:gdLst>
              <a:gd name="textAreaLeft" fmla="*/ 158760 w 3251520"/>
              <a:gd name="textAreaRight" fmla="*/ 3093120 w 3251520"/>
              <a:gd name="textAreaTop" fmla="*/ 158760 h 3419640"/>
              <a:gd name="textAreaBottom" fmla="*/ 3261240 h 3419640"/>
            </a:gdLst>
            <a:ahLst/>
            <a:cxnLst/>
            <a:rect l="textAreaLeft" t="textAreaTop" r="textAreaRight" b="textAreaBottom"/>
            <a:pathLst>
              <a:path w="21600" h="22717" fill="norm" stroke="1" extrusionOk="0">
                <a:moveTo>
                  <a:pt x="3600" y="0"/>
                </a:moveTo>
                <a:arcTo wR="3600" hR="3600" stAng="16200000" swAng="-5400000"/>
                <a:lnTo>
                  <a:pt x="0" y="19117"/>
                </a:lnTo>
                <a:arcTo wR="3600" hR="3600" stAng="10800000" swAng="-5400000"/>
                <a:lnTo>
                  <a:pt x="18000" y="22717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600" b="0" u="none" strike="noStrike">
                <a:solidFill>
                  <a:srgbClr val="FFFFFF"/>
                </a:solidFill>
                <a:latin typeface="Century Gothic"/>
              </a:rPr>
              <a:t>Permiten guardar información desde eBPF</a:t>
            </a:r>
            <a:endParaRPr lang="es-MX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316463" name="Forma libre: forma 75"/>
          <p:cNvSpPr/>
          <p:nvPr/>
        </p:nvSpPr>
        <p:spPr bwMode="auto">
          <a:xfrm>
            <a:off x="7188120" y="2520000"/>
            <a:ext cx="3251519" cy="3419640"/>
          </a:xfrm>
          <a:custGeom>
            <a:avLst/>
            <a:gdLst>
              <a:gd name="textAreaLeft" fmla="*/ 158760 w 3251520"/>
              <a:gd name="textAreaRight" fmla="*/ 3093120 w 3251520"/>
              <a:gd name="textAreaTop" fmla="*/ 158760 h 3419640"/>
              <a:gd name="textAreaBottom" fmla="*/ 3261240 h 3419640"/>
            </a:gdLst>
            <a:ahLst/>
            <a:cxnLst/>
            <a:rect l="textAreaLeft" t="textAreaTop" r="textAreaRight" b="textAreaBottom"/>
            <a:pathLst>
              <a:path w="21600" h="22717" fill="norm" stroke="1" extrusionOk="0">
                <a:moveTo>
                  <a:pt x="3600" y="0"/>
                </a:moveTo>
                <a:arcTo wR="3600" hR="3600" stAng="16200000" swAng="-5400000"/>
                <a:lnTo>
                  <a:pt x="0" y="19117"/>
                </a:lnTo>
                <a:arcTo wR="3600" hR="3600" stAng="10800000" swAng="-5400000"/>
                <a:lnTo>
                  <a:pt x="18000" y="22717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600" b="0" u="none" strike="noStrike">
                <a:solidFill>
                  <a:srgbClr val="FFFFFF"/>
                </a:solidFill>
                <a:latin typeface="Century Gothic"/>
                <a:ea typeface="Century Gothic"/>
              </a:rPr>
              <a:t>Python puede leer esos datos y convertirlos en métricas, logs o información útil</a:t>
            </a:r>
            <a:endParaRPr lang="es-MX" sz="2600" b="0" u="none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85676" name="Forma libre: forma 76"/>
          <p:cNvSpPr/>
          <p:nvPr/>
        </p:nvSpPr>
        <p:spPr bwMode="auto">
          <a:xfrm>
            <a:off x="3774240" y="2520000"/>
            <a:ext cx="3251160" cy="3419640"/>
          </a:xfrm>
          <a:custGeom>
            <a:avLst/>
            <a:gdLst>
              <a:gd name="textAreaLeft" fmla="*/ 158400 w 3251160"/>
              <a:gd name="textAreaRight" fmla="*/ 3093120 w 3251160"/>
              <a:gd name="textAreaTop" fmla="*/ 158400 h 3419640"/>
              <a:gd name="textAreaBottom" fmla="*/ 3261600 h 3419640"/>
            </a:gdLst>
            <a:ahLst/>
            <a:cxnLst/>
            <a:rect l="textAreaLeft" t="textAreaTop" r="textAreaRight" b="textAreaBottom"/>
            <a:pathLst>
              <a:path w="21600" h="22719" fill="norm" stroke="1" extrusionOk="0">
                <a:moveTo>
                  <a:pt x="3600" y="0"/>
                </a:moveTo>
                <a:arcTo wR="3600" hR="3600" stAng="16200000" swAng="-5400000"/>
                <a:lnTo>
                  <a:pt x="0" y="19119"/>
                </a:lnTo>
                <a:arcTo wR="3600" hR="3600" stAng="10800000" swAng="-5400000"/>
                <a:lnTo>
                  <a:pt x="18000" y="22719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600" b="0" u="none" strike="noStrike">
                <a:solidFill>
                  <a:srgbClr val="FFFFFF"/>
                </a:solidFill>
                <a:latin typeface="Century Gothic"/>
              </a:rPr>
              <a:t>Compartir datos entre el kernel y aplicaciones en user space</a:t>
            </a:r>
            <a:endParaRPr lang="es-MX" sz="2600" b="0" u="none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359623" name="CuadroTexto 77"/>
          <p:cNvSpPr/>
          <p:nvPr/>
        </p:nvSpPr>
        <p:spPr bwMode="auto">
          <a:xfrm>
            <a:off x="360000" y="867960"/>
            <a:ext cx="10079640" cy="543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defRPr/>
            </a:pP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defRPr/>
            </a:pP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85014085" name="Imagen 78" descr=""/>
          <p:cNvPicPr/>
          <p:nvPr/>
        </p:nvPicPr>
        <p:blipFill rotWithShape="1">
          <a:blip r:embed="rId3"/>
          <a:stretch/>
        </p:blipFill>
        <p:spPr bwMode="auto">
          <a:xfrm>
            <a:off x="3420000" y="900000"/>
            <a:ext cx="5039280" cy="506556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1645849" name="CuadroTexto 79"/>
          <p:cNvSpPr/>
          <p:nvPr/>
        </p:nvSpPr>
        <p:spPr bwMode="auto">
          <a:xfrm>
            <a:off x="360000" y="867960"/>
            <a:ext cx="10295998" cy="4850763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s-ES" sz="3600" b="1" u="none" strike="noStrike">
                <a:solidFill>
                  <a:srgbClr val="FFFFFF"/>
                </a:solidFill>
                <a:latin typeface="KoHo"/>
              </a:rPr>
              <a:t>Donde usarlo</a:t>
            </a:r>
            <a:r>
              <a:rPr lang="es-ES" sz="3600" b="1" u="none" strike="noStrike">
                <a:solidFill>
                  <a:srgbClr val="FFFFFF"/>
                </a:solidFill>
                <a:latin typeface="KoHo"/>
              </a:rPr>
              <a:t>:</a:t>
            </a:r>
            <a:endParaRPr lang="es-ES" sz="36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ES" sz="2400" b="1" u="none" strike="noStrike">
                <a:solidFill>
                  <a:srgbClr val="FFFFFF"/>
                </a:solidFill>
                <a:latin typeface="Century Gothic"/>
              </a:rPr>
              <a:t>Monitor de comandos sospechosos</a:t>
            </a:r>
            <a:r>
              <a:rPr lang="es-ES" sz="2400" b="0" u="none" strike="noStrike">
                <a:solidFill>
                  <a:srgbClr val="FFFFFF"/>
                </a:solidFill>
                <a:latin typeface="Century Gothic"/>
              </a:rPr>
              <a:t>: Observar llamadas </a:t>
            </a:r>
            <a:r>
              <a:rPr lang="es-ES" sz="2400" b="0" u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execve</a:t>
            </a:r>
            <a:r>
              <a:rPr lang="es-ES" sz="2400" b="0" u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</a:rPr>
              <a:t>() </a:t>
            </a:r>
            <a:r>
              <a:rPr lang="es-ES" sz="2400" b="0" i="0" u="none" strike="noStrike" cap="none" spc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para saber qu</a:t>
            </a:r>
            <a:r>
              <a:rPr lang="es-ES" sz="2400" b="0" i="0" u="none" strike="noStrike" cap="none" spc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é</a:t>
            </a:r>
            <a:r>
              <a:rPr lang="es-ES" sz="2400" b="0" i="0" u="none" strike="noStrike" cap="none" spc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 comandos </a:t>
            </a:r>
            <a:r>
              <a:rPr lang="es-ES" sz="2400" b="0" i="0" u="none" strike="noStrike" cap="none" spc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se</a:t>
            </a:r>
            <a:r>
              <a:rPr lang="es-ES" sz="2400" b="0" i="0" u="none" strike="noStrike" cap="none" spc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 están ejecutando en el sistema</a:t>
            </a:r>
            <a:endParaRPr lang="es-ES" sz="2400" b="0" i="0" u="none" strike="noStrike" cap="none" spc="0">
              <a:solidFill>
                <a:srgbClr val="FFFFFF"/>
              </a:solidFill>
              <a:latin typeface="Times New Roman"/>
              <a:cs typeface="Times New Roman"/>
            </a:endParaRPr>
          </a:p>
          <a:p>
            <a:pPr defTabSz="914400">
              <a:lnSpc>
                <a:spcPct val="100000"/>
              </a:lnSpc>
              <a:spcBef>
                <a:spcPts val="1189"/>
              </a:spcBef>
              <a:spcAft>
                <a:spcPts val="991"/>
              </a:spcAft>
              <a:defRPr/>
            </a:pPr>
            <a:endParaRPr lang="es-ES" sz="24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ES" sz="2400" b="1" u="none" strike="noStrike">
                <a:solidFill>
                  <a:srgbClr val="FFFFFF"/>
                </a:solidFill>
                <a:latin typeface="Century Gothic"/>
              </a:rPr>
              <a:t>Observabilidad en Kubernetes</a:t>
            </a:r>
            <a:r>
              <a:rPr lang="es-ES" sz="2400" b="0" u="none" strike="noStrike">
                <a:solidFill>
                  <a:srgbClr val="FFFFFF"/>
                </a:solidFill>
                <a:latin typeface="Century Gothic"/>
              </a:rPr>
              <a:t>: </a:t>
            </a:r>
            <a:r>
              <a:rPr lang="es-ES" sz="2400" b="0" u="none" strike="noStrike">
                <a:solidFill>
                  <a:srgbClr val="FFFFFF"/>
                </a:solidFill>
                <a:latin typeface="Century Gothic"/>
              </a:rPr>
              <a:t>Asociar pods, containers, cgroups con actividad del kernel. Observabilidad a nivel de nodo.</a:t>
            </a:r>
            <a:endParaRPr lang="es-ES" sz="24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89"/>
              </a:spcBef>
              <a:spcAft>
                <a:spcPts val="991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endParaRPr lang="es-ES" sz="24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ES" sz="2400" b="1" u="none" strike="noStrike">
                <a:solidFill>
                  <a:srgbClr val="FFFFFF"/>
                </a:solidFill>
                <a:latin typeface="Century Gothic"/>
              </a:rPr>
              <a:t>Detección de DDoS</a:t>
            </a:r>
            <a:r>
              <a:rPr lang="es-ES" sz="2400" b="0" u="none" strike="noStrike">
                <a:solidFill>
                  <a:srgbClr val="FFFFFF"/>
                </a:solidFill>
                <a:latin typeface="Century Gothic"/>
              </a:rPr>
              <a:t>: </a:t>
            </a:r>
            <a:r>
              <a:rPr lang="es-ES" sz="2400" b="0" i="0" u="none" strike="noStrike" cap="none" spc="0">
                <a:solidFill>
                  <a:srgbClr val="FFFFFF"/>
                </a:solidFill>
                <a:latin typeface="Century Gothic"/>
                <a:ea typeface="Century Gothic"/>
                <a:cs typeface="Century Gothic"/>
              </a:rPr>
              <a:t>Detectar patrones anormales en el tráfico de red de nuestro sistema. </a:t>
            </a:r>
            <a:r>
              <a:rPr lang="es-ES" sz="2400" b="0" u="none" strike="noStrike">
                <a:solidFill>
                  <a:srgbClr val="FFFFFF"/>
                </a:solidFill>
                <a:latin typeface="Century Gothic"/>
              </a:rPr>
              <a:t> </a:t>
            </a:r>
            <a:endParaRPr lang="es-ES" sz="2400" b="0" u="none" strike="noStrike">
              <a:solidFill>
                <a:srgbClr val="FFFFFF"/>
              </a:solidFill>
              <a:latin typeface="Century Gothic"/>
            </a:endParaRPr>
          </a:p>
          <a:p>
            <a:pPr defTabSz="914400">
              <a:lnSpc>
                <a:spcPct val="100000"/>
              </a:lnSpc>
              <a:spcBef>
                <a:spcPts val="1190"/>
              </a:spcBef>
              <a:spcAft>
                <a:spcPts val="992"/>
              </a:spcAft>
              <a:defRPr/>
            </a:pPr>
            <a:endParaRPr lang="es-ES" sz="24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234024" name="CuadroTexto 79"/>
          <p:cNvSpPr/>
          <p:nvPr/>
        </p:nvSpPr>
        <p:spPr bwMode="auto">
          <a:xfrm>
            <a:off x="360000" y="867960"/>
            <a:ext cx="10079640" cy="430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defRPr/>
            </a:pPr>
            <a:r>
              <a:rPr lang="es-MX" sz="3600" b="1" u="none" strike="noStrike">
                <a:solidFill>
                  <a:srgbClr val="FFFFFF"/>
                </a:solidFill>
                <a:latin typeface="KoHo"/>
              </a:rPr>
              <a:t>Puntos clave:</a:t>
            </a:r>
            <a:endParaRPr lang="es-MX" sz="36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1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400" b="0" u="none" strike="noStrike">
                <a:solidFill>
                  <a:srgbClr val="FFFFFF"/>
                </a:solidFill>
                <a:latin typeface="Century Gothic"/>
              </a:rPr>
              <a:t>eBPF ejecuta programas seguros y aislados dentro del kernel </a:t>
            </a: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1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400" b="0" u="none" strike="noStrike">
                <a:solidFill>
                  <a:srgbClr val="FFFFFF"/>
                </a:solidFill>
                <a:latin typeface="Century Gothic"/>
              </a:rPr>
              <a:t>El verifier garantiza la seguridad; los maps hacen que eBPF sea útil </a:t>
            </a: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1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400" b="0" u="none" strike="noStrike">
                <a:solidFill>
                  <a:srgbClr val="FFFFFF"/>
                </a:solidFill>
                <a:latin typeface="Century Gothic"/>
              </a:rPr>
              <a:t>Python es un excelente plano de control para cargar programas y leer datos </a:t>
            </a: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190"/>
              </a:spcBef>
              <a:spcAft>
                <a:spcPts val="991"/>
              </a:spcAft>
              <a:buClr>
                <a:srgbClr val="FFFFFF"/>
              </a:buClr>
              <a:buSzPct val="45000"/>
              <a:buFont typeface="Wingdings"/>
              <a:buChar char=""/>
              <a:defRPr/>
            </a:pPr>
            <a:r>
              <a:rPr lang="es-MX" sz="2400" b="0" u="none" strike="noStrike">
                <a:solidFill>
                  <a:srgbClr val="FFFFFF"/>
                </a:solidFill>
                <a:latin typeface="Century Gothic"/>
              </a:rPr>
              <a:t>eBPF es ideal para observabilidad, redes y seguridad</a:t>
            </a: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0"/>
              </a:spcBef>
              <a:spcAft>
                <a:spcPts val="991"/>
              </a:spcAft>
              <a:defRPr/>
            </a:pPr>
            <a:endParaRPr lang="es-MX" sz="2400" b="0" u="none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0">
          <a:blip r:embed="rId3"/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Diseño personalizado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Diseño personalizado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ONLYOFFICE/9.3.1.8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>Daniel Paredes</dc:creator>
  <dc:description/>
  <dc:language>es-MX</dc:language>
  <cp:lastModifiedBy/>
  <cp:revision>7</cp:revision>
  <dcterms:created xsi:type="dcterms:W3CDTF">2026-09-04T13:46:50Z</dcterms:created>
  <dcterms:modified xsi:type="dcterms:W3CDTF">2026-10-02T20:33:16Z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15</vt:i4>
  </property>
</Properties>
</file>